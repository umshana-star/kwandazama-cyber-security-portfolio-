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5" d="100"/>
          <a:sy n="95" d="100"/>
        </p:scale>
        <p:origin x="504" y="-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1438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18" Type="http://schemas.openxmlformats.org/officeDocument/2006/relationships/image" Target="../media/image41.png"/><Relationship Id="rId3" Type="http://schemas.openxmlformats.org/officeDocument/2006/relationships/image" Target="../media/image5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19" Type="http://schemas.openxmlformats.org/officeDocument/2006/relationships/image" Target="../media/image42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5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39.png"/><Relationship Id="rId3" Type="http://schemas.openxmlformats.org/officeDocument/2006/relationships/image" Target="../media/image52.png"/><Relationship Id="rId7" Type="http://schemas.openxmlformats.org/officeDocument/2006/relationships/image" Target="../media/image30.png"/><Relationship Id="rId12" Type="http://schemas.openxmlformats.org/officeDocument/2006/relationships/image" Target="../media/image54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40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4.png"/><Relationship Id="rId14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8.png"/><Relationship Id="rId18" Type="http://schemas.openxmlformats.org/officeDocument/2006/relationships/image" Target="../media/image8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12" Type="http://schemas.openxmlformats.org/officeDocument/2006/relationships/image" Target="../media/image77.png"/><Relationship Id="rId17" Type="http://schemas.openxmlformats.org/officeDocument/2006/relationships/image" Target="../media/image82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5" Type="http://schemas.openxmlformats.org/officeDocument/2006/relationships/image" Target="../media/image70.png"/><Relationship Id="rId15" Type="http://schemas.openxmlformats.org/officeDocument/2006/relationships/image" Target="../media/image80.png"/><Relationship Id="rId10" Type="http://schemas.openxmlformats.org/officeDocument/2006/relationships/image" Target="../media/image75.png"/><Relationship Id="rId19" Type="http://schemas.openxmlformats.org/officeDocument/2006/relationships/image" Target="../media/image84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Relationship Id="rId14" Type="http://schemas.openxmlformats.org/officeDocument/2006/relationships/image" Target="../media/image7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95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12" Type="http://schemas.openxmlformats.org/officeDocument/2006/relationships/image" Target="../media/image9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5" Type="http://schemas.openxmlformats.org/officeDocument/2006/relationships/image" Target="../media/image87.png"/><Relationship Id="rId10" Type="http://schemas.openxmlformats.org/officeDocument/2006/relationships/image" Target="../media/image92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Relationship Id="rId14" Type="http://schemas.openxmlformats.org/officeDocument/2006/relationships/image" Target="../media/image9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571500"/>
            <a:ext cx="8358188" cy="44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3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GRC Analyst Portfolio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428625" y="1263355"/>
            <a:ext cx="4702346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Governance, Risk &amp; Compliance Framework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28625" y="1503369"/>
            <a:ext cx="2692161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Fintech/Finance in South Africa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28625" y="2081196"/>
            <a:ext cx="8358188" cy="1523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90" b="1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by: Ubuntu GRC</a:t>
            </a:r>
            <a:endParaRPr lang="en-US" sz="990" dirty="0"/>
          </a:p>
        </p:txBody>
      </p:sp>
      <p:sp>
        <p:nvSpPr>
          <p:cNvPr id="8" name="Text 5"/>
          <p:cNvSpPr/>
          <p:nvPr/>
        </p:nvSpPr>
        <p:spPr>
          <a:xfrm>
            <a:off x="428625" y="2308827"/>
            <a:ext cx="83581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 2025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229475" y="4243388"/>
            <a:ext cx="385763" cy="471488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6631" y="4393406"/>
            <a:ext cx="171450" cy="1714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758113" y="4243388"/>
            <a:ext cx="385763" cy="471488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5269" y="4393406"/>
            <a:ext cx="171450" cy="17145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286750" y="4243388"/>
            <a:ext cx="428625" cy="471488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3906" y="4393406"/>
            <a:ext cx="214313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8926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24588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83581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Portfolio Overview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428625" y="789656"/>
            <a:ext cx="8358188" cy="1523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FFFFFF">
                    <a:alpha val="9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Comprehensive Ubuntu GRC framework demonstrating practical expertise</a:t>
            </a:r>
            <a:endParaRPr lang="en-US" sz="990" dirty="0"/>
          </a:p>
        </p:txBody>
      </p:sp>
      <p:sp>
        <p:nvSpPr>
          <p:cNvPr id="6" name="Shape 3"/>
          <p:cNvSpPr/>
          <p:nvPr/>
        </p:nvSpPr>
        <p:spPr>
          <a:xfrm>
            <a:off x="428625" y="1603074"/>
            <a:ext cx="4000500" cy="21859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1603074"/>
            <a:ext cx="28575" cy="218590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1817387"/>
            <a:ext cx="285750" cy="2857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2938" y="2246012"/>
            <a:ext cx="3643313" cy="2400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Register Development</a:t>
            </a:r>
            <a:endParaRPr lang="en-US" sz="1260" dirty="0"/>
          </a:p>
        </p:txBody>
      </p:sp>
      <p:sp>
        <p:nvSpPr>
          <p:cNvPr id="10" name="Text 6"/>
          <p:cNvSpPr/>
          <p:nvPr/>
        </p:nvSpPr>
        <p:spPr>
          <a:xfrm>
            <a:off x="642938" y="2593181"/>
            <a:ext cx="3643313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risk assessment using ISO 27005 methodology for a fictional FinTech startup.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          Identified 7 critical risks with detailed treatment strategies and residual risk calculations.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642938" y="3248927"/>
            <a:ext cx="3571875" cy="325738"/>
          </a:xfrm>
          <a:prstGeom prst="rect">
            <a:avLst/>
          </a:prstGeom>
          <a:solidFill>
            <a:srgbClr val="EFF6FF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238" y="3361441"/>
            <a:ext cx="103584" cy="10285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7972" y="3340010"/>
            <a:ext cx="1674819" cy="1410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1E40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ISO 27005 Methodology Applied</a:t>
            </a:r>
            <a:endParaRPr lang="en-US" sz="810" dirty="0"/>
          </a:p>
        </p:txBody>
      </p:sp>
      <p:sp>
        <p:nvSpPr>
          <p:cNvPr id="14" name="Shape 9"/>
          <p:cNvSpPr/>
          <p:nvPr/>
        </p:nvSpPr>
        <p:spPr>
          <a:xfrm>
            <a:off x="4714875" y="1603074"/>
            <a:ext cx="4000500" cy="21859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0"/>
          <p:cNvSpPr/>
          <p:nvPr/>
        </p:nvSpPr>
        <p:spPr>
          <a:xfrm>
            <a:off x="4714875" y="1603074"/>
            <a:ext cx="28575" cy="218590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9188" y="1817387"/>
            <a:ext cx="214313" cy="2857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929188" y="2246012"/>
            <a:ext cx="3643313" cy="2400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Writing Portfolio</a:t>
            </a:r>
            <a:endParaRPr lang="en-US" sz="1260" dirty="0"/>
          </a:p>
        </p:txBody>
      </p:sp>
      <p:sp>
        <p:nvSpPr>
          <p:cNvPr id="18" name="Text 12"/>
          <p:cNvSpPr/>
          <p:nvPr/>
        </p:nvSpPr>
        <p:spPr>
          <a:xfrm>
            <a:off x="4929188" y="2593181"/>
            <a:ext cx="3643313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comprehensive policy documents aligned with ISO 27001 Annex A controls and POPIA requirements: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          Information Security, Data Retention &amp; Destruction, and Access Control policies.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4929188" y="3248927"/>
            <a:ext cx="3571875" cy="325738"/>
          </a:xfrm>
          <a:prstGeom prst="rect">
            <a:avLst/>
          </a:prstGeom>
          <a:solidFill>
            <a:srgbClr val="EFF6FF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3488" y="3361441"/>
            <a:ext cx="103584" cy="102859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204222" y="3340010"/>
            <a:ext cx="1433606" cy="1410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1E40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ISO 27001 &amp; POPIA Aligned</a:t>
            </a:r>
            <a:endParaRPr lang="en-US" sz="810" dirty="0"/>
          </a:p>
        </p:txBody>
      </p:sp>
      <p:sp>
        <p:nvSpPr>
          <p:cNvPr id="22" name="Shape 15"/>
          <p:cNvSpPr/>
          <p:nvPr/>
        </p:nvSpPr>
        <p:spPr>
          <a:xfrm>
            <a:off x="428625" y="4074728"/>
            <a:ext cx="4000500" cy="21859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6"/>
          <p:cNvSpPr/>
          <p:nvPr/>
        </p:nvSpPr>
        <p:spPr>
          <a:xfrm>
            <a:off x="428625" y="4074728"/>
            <a:ext cx="28575" cy="218590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938" y="4289041"/>
            <a:ext cx="321469" cy="28575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42938" y="4717666"/>
            <a:ext cx="3643313" cy="2400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GRC Dashboard Prototype</a:t>
            </a:r>
            <a:endParaRPr lang="en-US" sz="1260" dirty="0"/>
          </a:p>
        </p:txBody>
      </p:sp>
      <p:sp>
        <p:nvSpPr>
          <p:cNvPr id="26" name="Text 18"/>
          <p:cNvSpPr/>
          <p:nvPr/>
        </p:nvSpPr>
        <p:spPr>
          <a:xfrm>
            <a:off x="642938" y="5064835"/>
            <a:ext cx="3643313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Lightweight dashboard design for visualizing compliance status, risk metrics, and incident data.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          Features automated scoring and red/yellow/green indicators for stakeholder reporting.</a:t>
            </a:r>
            <a:endParaRPr lang="en-US" sz="900" dirty="0"/>
          </a:p>
        </p:txBody>
      </p:sp>
      <p:sp>
        <p:nvSpPr>
          <p:cNvPr id="27" name="Shape 19"/>
          <p:cNvSpPr/>
          <p:nvPr/>
        </p:nvSpPr>
        <p:spPr>
          <a:xfrm>
            <a:off x="642938" y="5720581"/>
            <a:ext cx="3571875" cy="325738"/>
          </a:xfrm>
          <a:prstGeom prst="rect">
            <a:avLst/>
          </a:prstGeom>
          <a:solidFill>
            <a:srgbClr val="EFF6FF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7238" y="5833095"/>
            <a:ext cx="116086" cy="102859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930473" y="5811664"/>
            <a:ext cx="1443484" cy="1410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1E40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Real-time Risk Visualization</a:t>
            </a:r>
            <a:endParaRPr lang="en-US" sz="810" dirty="0"/>
          </a:p>
        </p:txBody>
      </p:sp>
      <p:sp>
        <p:nvSpPr>
          <p:cNvPr id="30" name="Shape 21"/>
          <p:cNvSpPr/>
          <p:nvPr/>
        </p:nvSpPr>
        <p:spPr>
          <a:xfrm>
            <a:off x="4714875" y="4074728"/>
            <a:ext cx="4000500" cy="21859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2"/>
          <p:cNvSpPr/>
          <p:nvPr/>
        </p:nvSpPr>
        <p:spPr>
          <a:xfrm>
            <a:off x="4714875" y="4074728"/>
            <a:ext cx="28575" cy="218590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29188" y="4289041"/>
            <a:ext cx="214313" cy="28575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929188" y="4717666"/>
            <a:ext cx="3643313" cy="2400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South African Context</a:t>
            </a:r>
            <a:endParaRPr lang="en-US" sz="1260" dirty="0"/>
          </a:p>
        </p:txBody>
      </p:sp>
      <p:sp>
        <p:nvSpPr>
          <p:cNvPr id="34" name="Text 24"/>
          <p:cNvSpPr/>
          <p:nvPr/>
        </p:nvSpPr>
        <p:spPr>
          <a:xfrm>
            <a:off x="4929188" y="5064835"/>
            <a:ext cx="3643313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Specifically tailored for the South African regulatory environment, addressing POPIA,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          SARB regulations, and FICA requirements for FinTech organizations.</a:t>
            </a:r>
            <a:endParaRPr lang="en-US" sz="900" dirty="0"/>
          </a:p>
        </p:txBody>
      </p:sp>
      <p:sp>
        <p:nvSpPr>
          <p:cNvPr id="35" name="Shape 25"/>
          <p:cNvSpPr/>
          <p:nvPr/>
        </p:nvSpPr>
        <p:spPr>
          <a:xfrm>
            <a:off x="4929188" y="5720581"/>
            <a:ext cx="3571875" cy="325738"/>
          </a:xfrm>
          <a:prstGeom prst="rect">
            <a:avLst/>
          </a:prstGeom>
          <a:solidFill>
            <a:srgbClr val="EFF6FF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43488" y="5833095"/>
            <a:ext cx="103584" cy="102859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5204222" y="5811664"/>
            <a:ext cx="1524549" cy="1410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1E40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Local Regulatory Compliance</a:t>
            </a:r>
            <a:endParaRPr lang="en-US" sz="8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8926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24588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83581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Scenario: SecurePay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428625" y="771525"/>
            <a:ext cx="8358188" cy="188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FFFFFF">
                    <a:alpha val="9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Fictional FinTech startup demonstrating GRC framework application</a:t>
            </a:r>
            <a:endParaRPr lang="en-US" sz="990" dirty="0"/>
          </a:p>
        </p:txBody>
      </p:sp>
      <p:sp>
        <p:nvSpPr>
          <p:cNvPr id="6" name="Shape 3"/>
          <p:cNvSpPr/>
          <p:nvPr/>
        </p:nvSpPr>
        <p:spPr>
          <a:xfrm>
            <a:off x="428625" y="1531637"/>
            <a:ext cx="4214813" cy="3571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642938" y="1745949"/>
            <a:ext cx="571500" cy="571500"/>
          </a:xfrm>
          <a:prstGeom prst="rect">
            <a:avLst/>
          </a:prstGeom>
          <a:solidFill>
            <a:srgbClr val="1E40A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963" y="1917399"/>
            <a:ext cx="17145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2938" y="2460324"/>
            <a:ext cx="3857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SecurePay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42938" y="2874662"/>
            <a:ext cx="3857625" cy="188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Payment Solutions for South Africa</a:t>
            </a:r>
            <a:endParaRPr lang="en-US" sz="99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8" y="3284730"/>
            <a:ext cx="76795" cy="10285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91170" y="3241867"/>
            <a:ext cx="1238241" cy="1886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9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Company Overview</a:t>
            </a:r>
            <a:endParaRPr lang="en-US" sz="990" dirty="0"/>
          </a:p>
        </p:txBody>
      </p:sp>
      <p:sp>
        <p:nvSpPr>
          <p:cNvPr id="13" name="Text 8"/>
          <p:cNvSpPr/>
          <p:nvPr/>
        </p:nvSpPr>
        <p:spPr>
          <a:xfrm>
            <a:off x="642938" y="3498691"/>
            <a:ext cx="3857625" cy="657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5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Newly established FinTech startup based in Cape Town, offering secure mobile payment applications </a:t>
            </a:r>
            <a:endParaRPr lang="en-US" sz="855" dirty="0"/>
          </a:p>
          <a:p>
            <a:pPr marL="0" indent="0">
              <a:buNone/>
            </a:pPr>
            <a:r>
              <a:rPr lang="en-US" sz="85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P2P and C2B transactions. Targeting underserved communities and small businesses with </a:t>
            </a:r>
            <a:endParaRPr lang="en-US" sz="855" dirty="0"/>
          </a:p>
          <a:p>
            <a:pPr marL="0" indent="0">
              <a:buNone/>
            </a:pPr>
            <a:r>
              <a:rPr lang="en-US" sz="85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accessible digital payment solutions.</a:t>
            </a:r>
            <a:endParaRPr lang="en-US" sz="855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8" y="4351939"/>
            <a:ext cx="103584" cy="10285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17959" y="4317643"/>
            <a:ext cx="123182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Mobile P2P payments</a:t>
            </a:r>
            <a:endParaRPr lang="en-US" sz="9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938" y="4644833"/>
            <a:ext cx="89297" cy="10285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03672" y="4610537"/>
            <a:ext cx="16830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QR code-based C2B payments</a:t>
            </a:r>
            <a:endParaRPr lang="en-US" sz="9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938" y="4937727"/>
            <a:ext cx="128588" cy="102859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42963" y="4903431"/>
            <a:ext cx="19801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Bank &amp; mobile operator integration</a:t>
            </a:r>
            <a:endParaRPr lang="en-US" sz="9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938" y="5230620"/>
            <a:ext cx="103584" cy="102859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817959" y="5196325"/>
            <a:ext cx="17445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Transaction history &amp; reporting</a:t>
            </a:r>
            <a:endParaRPr lang="en-US" sz="900" dirty="0"/>
          </a:p>
        </p:txBody>
      </p:sp>
      <p:sp>
        <p:nvSpPr>
          <p:cNvPr id="22" name="Shape 13"/>
          <p:cNvSpPr/>
          <p:nvPr/>
        </p:nvSpPr>
        <p:spPr>
          <a:xfrm>
            <a:off x="4929188" y="1531637"/>
            <a:ext cx="3786188" cy="11058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4"/>
          <p:cNvSpPr/>
          <p:nvPr/>
        </p:nvSpPr>
        <p:spPr>
          <a:xfrm>
            <a:off x="4929188" y="1531637"/>
            <a:ext cx="28575" cy="1105802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07781" y="1753093"/>
            <a:ext cx="103584" cy="102859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282803" y="1710230"/>
            <a:ext cx="1137921" cy="1886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9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Stack</a:t>
            </a:r>
            <a:endParaRPr lang="en-US" sz="990" dirty="0"/>
          </a:p>
        </p:txBody>
      </p:sp>
      <p:sp>
        <p:nvSpPr>
          <p:cNvPr id="26" name="Text 16"/>
          <p:cNvSpPr/>
          <p:nvPr/>
        </p:nvSpPr>
        <p:spPr>
          <a:xfrm>
            <a:off x="5107781" y="1951414"/>
            <a:ext cx="3500438" cy="5262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5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Cloud-based infrastructure (AWS/Azure), mobile apps for iOS/Android, </a:t>
            </a:r>
            <a:endParaRPr lang="en-US" sz="855" dirty="0"/>
          </a:p>
          <a:p>
            <a:pPr marL="0" indent="0">
              <a:buNone/>
            </a:pPr>
            <a:r>
              <a:rPr lang="en-US" sz="85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integrations with payment gateways, and internal admin portal for operations.</a:t>
            </a:r>
            <a:endParaRPr lang="en-US" sz="855" dirty="0"/>
          </a:p>
        </p:txBody>
      </p:sp>
      <p:sp>
        <p:nvSpPr>
          <p:cNvPr id="27" name="Shape 17"/>
          <p:cNvSpPr/>
          <p:nvPr/>
        </p:nvSpPr>
        <p:spPr>
          <a:xfrm>
            <a:off x="4929188" y="2780314"/>
            <a:ext cx="3786188" cy="10901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18"/>
          <p:cNvSpPr/>
          <p:nvPr/>
        </p:nvSpPr>
        <p:spPr>
          <a:xfrm>
            <a:off x="4929188" y="2780314"/>
            <a:ext cx="28575" cy="1090147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07781" y="3001770"/>
            <a:ext cx="128588" cy="102859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5307806" y="2958908"/>
            <a:ext cx="1531330" cy="188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9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Regulatory Environment</a:t>
            </a:r>
            <a:endParaRPr lang="en-US" sz="990" dirty="0"/>
          </a:p>
        </p:txBody>
      </p:sp>
      <p:sp>
        <p:nvSpPr>
          <p:cNvPr id="31" name="Text 20"/>
          <p:cNvSpPr/>
          <p:nvPr/>
        </p:nvSpPr>
        <p:spPr>
          <a:xfrm>
            <a:off x="5107781" y="3184451"/>
            <a:ext cx="3500438" cy="3947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5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Subject to SARB regulations for payment service providers, POPIA for data protection, </a:t>
            </a:r>
            <a:endParaRPr lang="en-US" sz="855" dirty="0"/>
          </a:p>
          <a:p>
            <a:pPr marL="0" indent="0">
              <a:buNone/>
            </a:pPr>
            <a:r>
              <a:rPr lang="en-US" sz="85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FICA for AML/CTF compliance requirements.</a:t>
            </a:r>
            <a:endParaRPr lang="en-US" sz="855" dirty="0"/>
          </a:p>
        </p:txBody>
      </p:sp>
      <p:sp>
        <p:nvSpPr>
          <p:cNvPr id="32" name="Shape 21"/>
          <p:cNvSpPr/>
          <p:nvPr/>
        </p:nvSpPr>
        <p:spPr>
          <a:xfrm>
            <a:off x="4929188" y="4013336"/>
            <a:ext cx="3786188" cy="10901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22"/>
          <p:cNvSpPr/>
          <p:nvPr/>
        </p:nvSpPr>
        <p:spPr>
          <a:xfrm>
            <a:off x="4929188" y="4013336"/>
            <a:ext cx="28575" cy="1090175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07781" y="4234793"/>
            <a:ext cx="89297" cy="102859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5268516" y="4191930"/>
            <a:ext cx="1056605" cy="1886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9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Processing</a:t>
            </a:r>
            <a:endParaRPr lang="en-US" sz="990" dirty="0"/>
          </a:p>
        </p:txBody>
      </p:sp>
      <p:sp>
        <p:nvSpPr>
          <p:cNvPr id="36" name="Text 24"/>
          <p:cNvSpPr/>
          <p:nvPr/>
        </p:nvSpPr>
        <p:spPr>
          <a:xfrm>
            <a:off x="5107781" y="4417472"/>
            <a:ext cx="3500438" cy="3947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5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Handles customer PII (names, ID numbers, bank details), transaction data, </a:t>
            </a:r>
            <a:endParaRPr lang="en-US" sz="855" dirty="0"/>
          </a:p>
          <a:p>
            <a:pPr marL="0" indent="0">
              <a:buNone/>
            </a:pPr>
            <a:r>
              <a:rPr lang="en-US" sz="85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device information for security and fraud detection purposes.</a:t>
            </a:r>
            <a:endParaRPr lang="en-US" sz="85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8926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24588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83581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Register Development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428625" y="771525"/>
            <a:ext cx="8358188" cy="188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FFFFFF">
                    <a:alpha val="9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ISO 27005 methodology application and key risk identification</a:t>
            </a:r>
            <a:endParaRPr lang="en-US" sz="990" dirty="0"/>
          </a:p>
        </p:txBody>
      </p:sp>
      <p:sp>
        <p:nvSpPr>
          <p:cNvPr id="6" name="Shape 3"/>
          <p:cNvSpPr/>
          <p:nvPr/>
        </p:nvSpPr>
        <p:spPr>
          <a:xfrm>
            <a:off x="428625" y="1531637"/>
            <a:ext cx="4214813" cy="357187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1785938"/>
            <a:ext cx="200025" cy="16000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1745949"/>
            <a:ext cx="1876406" cy="2400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 27005 Methodology</a:t>
            </a:r>
            <a:endParaRPr lang="en-US" sz="1260" dirty="0"/>
          </a:p>
        </p:txBody>
      </p:sp>
      <p:sp>
        <p:nvSpPr>
          <p:cNvPr id="9" name="Shape 5"/>
          <p:cNvSpPr/>
          <p:nvPr/>
        </p:nvSpPr>
        <p:spPr>
          <a:xfrm>
            <a:off x="642938" y="2128838"/>
            <a:ext cx="3786188" cy="39541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6"/>
          <p:cNvSpPr/>
          <p:nvPr/>
        </p:nvSpPr>
        <p:spPr>
          <a:xfrm>
            <a:off x="642938" y="2128838"/>
            <a:ext cx="28575" cy="39541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7"/>
          <p:cNvSpPr/>
          <p:nvPr/>
        </p:nvSpPr>
        <p:spPr>
          <a:xfrm>
            <a:off x="750094" y="2245649"/>
            <a:ext cx="171450" cy="17145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8"/>
          <p:cNvSpPr/>
          <p:nvPr/>
        </p:nvSpPr>
        <p:spPr>
          <a:xfrm>
            <a:off x="750094" y="2245649"/>
            <a:ext cx="2428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2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720" dirty="0"/>
          </a:p>
        </p:txBody>
      </p:sp>
      <p:sp>
        <p:nvSpPr>
          <p:cNvPr id="13" name="Text 9"/>
          <p:cNvSpPr/>
          <p:nvPr/>
        </p:nvSpPr>
        <p:spPr>
          <a:xfrm>
            <a:off x="1022700" y="2248495"/>
            <a:ext cx="1271364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55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Context Establishment</a:t>
            </a:r>
            <a:endParaRPr lang="en-US" sz="855" dirty="0"/>
          </a:p>
        </p:txBody>
      </p:sp>
      <p:sp>
        <p:nvSpPr>
          <p:cNvPr id="14" name="Shape 10"/>
          <p:cNvSpPr/>
          <p:nvPr/>
        </p:nvSpPr>
        <p:spPr>
          <a:xfrm>
            <a:off x="642938" y="2609980"/>
            <a:ext cx="3786188" cy="39541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1"/>
          <p:cNvSpPr/>
          <p:nvPr/>
        </p:nvSpPr>
        <p:spPr>
          <a:xfrm>
            <a:off x="642938" y="2609980"/>
            <a:ext cx="28575" cy="39541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2"/>
          <p:cNvSpPr/>
          <p:nvPr/>
        </p:nvSpPr>
        <p:spPr>
          <a:xfrm>
            <a:off x="750094" y="2726792"/>
            <a:ext cx="171450" cy="17145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3"/>
          <p:cNvSpPr/>
          <p:nvPr/>
        </p:nvSpPr>
        <p:spPr>
          <a:xfrm>
            <a:off x="750094" y="2726792"/>
            <a:ext cx="2428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2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720" dirty="0"/>
          </a:p>
        </p:txBody>
      </p:sp>
      <p:sp>
        <p:nvSpPr>
          <p:cNvPr id="18" name="Text 14"/>
          <p:cNvSpPr/>
          <p:nvPr/>
        </p:nvSpPr>
        <p:spPr>
          <a:xfrm>
            <a:off x="1022700" y="2729638"/>
            <a:ext cx="948333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55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Risk Assessment</a:t>
            </a:r>
            <a:endParaRPr lang="en-US" sz="855" dirty="0"/>
          </a:p>
        </p:txBody>
      </p:sp>
      <p:sp>
        <p:nvSpPr>
          <p:cNvPr id="19" name="Shape 15"/>
          <p:cNvSpPr/>
          <p:nvPr/>
        </p:nvSpPr>
        <p:spPr>
          <a:xfrm>
            <a:off x="642938" y="3091123"/>
            <a:ext cx="3786188" cy="39541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Shape 16"/>
          <p:cNvSpPr/>
          <p:nvPr/>
        </p:nvSpPr>
        <p:spPr>
          <a:xfrm>
            <a:off x="642938" y="3091123"/>
            <a:ext cx="28575" cy="39541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Shape 17"/>
          <p:cNvSpPr/>
          <p:nvPr/>
        </p:nvSpPr>
        <p:spPr>
          <a:xfrm>
            <a:off x="750094" y="3207934"/>
            <a:ext cx="171450" cy="17145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2" name="Text 18"/>
          <p:cNvSpPr/>
          <p:nvPr/>
        </p:nvSpPr>
        <p:spPr>
          <a:xfrm>
            <a:off x="750094" y="3207934"/>
            <a:ext cx="2428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2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720" dirty="0"/>
          </a:p>
        </p:txBody>
      </p:sp>
      <p:sp>
        <p:nvSpPr>
          <p:cNvPr id="23" name="Text 19"/>
          <p:cNvSpPr/>
          <p:nvPr/>
        </p:nvSpPr>
        <p:spPr>
          <a:xfrm>
            <a:off x="1022700" y="3210781"/>
            <a:ext cx="872542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55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Risk Treatment</a:t>
            </a:r>
            <a:endParaRPr lang="en-US" sz="855" dirty="0"/>
          </a:p>
        </p:txBody>
      </p:sp>
      <p:sp>
        <p:nvSpPr>
          <p:cNvPr id="24" name="Shape 20"/>
          <p:cNvSpPr/>
          <p:nvPr/>
        </p:nvSpPr>
        <p:spPr>
          <a:xfrm>
            <a:off x="642938" y="3572266"/>
            <a:ext cx="3786188" cy="39541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Shape 21"/>
          <p:cNvSpPr/>
          <p:nvPr/>
        </p:nvSpPr>
        <p:spPr>
          <a:xfrm>
            <a:off x="642938" y="3572266"/>
            <a:ext cx="28575" cy="39541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Shape 22"/>
          <p:cNvSpPr/>
          <p:nvPr/>
        </p:nvSpPr>
        <p:spPr>
          <a:xfrm>
            <a:off x="750094" y="3689077"/>
            <a:ext cx="171450" cy="17145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7" name="Text 23"/>
          <p:cNvSpPr/>
          <p:nvPr/>
        </p:nvSpPr>
        <p:spPr>
          <a:xfrm>
            <a:off x="750094" y="3689077"/>
            <a:ext cx="2428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2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720" dirty="0"/>
          </a:p>
        </p:txBody>
      </p:sp>
      <p:sp>
        <p:nvSpPr>
          <p:cNvPr id="28" name="Text 24"/>
          <p:cNvSpPr/>
          <p:nvPr/>
        </p:nvSpPr>
        <p:spPr>
          <a:xfrm>
            <a:off x="1022700" y="3691923"/>
            <a:ext cx="925869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55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Risk Acceptance</a:t>
            </a:r>
            <a:endParaRPr lang="en-US" sz="855" dirty="0"/>
          </a:p>
        </p:txBody>
      </p:sp>
      <p:sp>
        <p:nvSpPr>
          <p:cNvPr id="29" name="Shape 25"/>
          <p:cNvSpPr/>
          <p:nvPr/>
        </p:nvSpPr>
        <p:spPr>
          <a:xfrm>
            <a:off x="642938" y="4053408"/>
            <a:ext cx="3786188" cy="39541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" name="Shape 26"/>
          <p:cNvSpPr/>
          <p:nvPr/>
        </p:nvSpPr>
        <p:spPr>
          <a:xfrm>
            <a:off x="642938" y="4053408"/>
            <a:ext cx="28575" cy="39541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Shape 27"/>
          <p:cNvSpPr/>
          <p:nvPr/>
        </p:nvSpPr>
        <p:spPr>
          <a:xfrm>
            <a:off x="750094" y="4170220"/>
            <a:ext cx="171450" cy="17145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2" name="Text 28"/>
          <p:cNvSpPr/>
          <p:nvPr/>
        </p:nvSpPr>
        <p:spPr>
          <a:xfrm>
            <a:off x="750094" y="4170220"/>
            <a:ext cx="2428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2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</a:t>
            </a:r>
            <a:endParaRPr lang="en-US" sz="720" dirty="0"/>
          </a:p>
        </p:txBody>
      </p:sp>
      <p:sp>
        <p:nvSpPr>
          <p:cNvPr id="33" name="Text 29"/>
          <p:cNvSpPr/>
          <p:nvPr/>
        </p:nvSpPr>
        <p:spPr>
          <a:xfrm>
            <a:off x="1022700" y="4173066"/>
            <a:ext cx="1163427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55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Risk Communication</a:t>
            </a:r>
            <a:endParaRPr lang="en-US" sz="855" dirty="0"/>
          </a:p>
        </p:txBody>
      </p:sp>
      <p:sp>
        <p:nvSpPr>
          <p:cNvPr id="34" name="Shape 30"/>
          <p:cNvSpPr/>
          <p:nvPr/>
        </p:nvSpPr>
        <p:spPr>
          <a:xfrm>
            <a:off x="642938" y="4534551"/>
            <a:ext cx="3786188" cy="39541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5" name="Shape 31"/>
          <p:cNvSpPr/>
          <p:nvPr/>
        </p:nvSpPr>
        <p:spPr>
          <a:xfrm>
            <a:off x="642938" y="4534551"/>
            <a:ext cx="28575" cy="39541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6" name="Shape 32"/>
          <p:cNvSpPr/>
          <p:nvPr/>
        </p:nvSpPr>
        <p:spPr>
          <a:xfrm>
            <a:off x="750094" y="4651363"/>
            <a:ext cx="171450" cy="17145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7" name="Text 33"/>
          <p:cNvSpPr/>
          <p:nvPr/>
        </p:nvSpPr>
        <p:spPr>
          <a:xfrm>
            <a:off x="750094" y="4651363"/>
            <a:ext cx="2428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2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</a:t>
            </a:r>
            <a:endParaRPr lang="en-US" sz="720" dirty="0"/>
          </a:p>
        </p:txBody>
      </p:sp>
      <p:sp>
        <p:nvSpPr>
          <p:cNvPr id="38" name="Text 34"/>
          <p:cNvSpPr/>
          <p:nvPr/>
        </p:nvSpPr>
        <p:spPr>
          <a:xfrm>
            <a:off x="1022700" y="4654209"/>
            <a:ext cx="1423364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55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Risk Monitoring &amp; Review</a:t>
            </a:r>
            <a:endParaRPr lang="en-US" sz="855" dirty="0"/>
          </a:p>
        </p:txBody>
      </p:sp>
      <p:sp>
        <p:nvSpPr>
          <p:cNvPr id="39" name="Shape 35"/>
          <p:cNvSpPr/>
          <p:nvPr/>
        </p:nvSpPr>
        <p:spPr>
          <a:xfrm>
            <a:off x="642938" y="5072844"/>
            <a:ext cx="1190606" cy="644361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0" name="Text 36"/>
          <p:cNvSpPr/>
          <p:nvPr/>
        </p:nvSpPr>
        <p:spPr>
          <a:xfrm>
            <a:off x="750094" y="5180000"/>
            <a:ext cx="104773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</a:t>
            </a:r>
            <a:endParaRPr lang="en-US" sz="1350" dirty="0"/>
          </a:p>
        </p:txBody>
      </p:sp>
      <p:sp>
        <p:nvSpPr>
          <p:cNvPr id="41" name="Text 37"/>
          <p:cNvSpPr/>
          <p:nvPr/>
        </p:nvSpPr>
        <p:spPr>
          <a:xfrm>
            <a:off x="750094" y="5472894"/>
            <a:ext cx="1047731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Risks Identified</a:t>
            </a:r>
            <a:endParaRPr lang="en-US" sz="720" dirty="0"/>
          </a:p>
        </p:txBody>
      </p:sp>
      <p:sp>
        <p:nvSpPr>
          <p:cNvPr id="42" name="Shape 38"/>
          <p:cNvSpPr/>
          <p:nvPr/>
        </p:nvSpPr>
        <p:spPr>
          <a:xfrm>
            <a:off x="1940700" y="5072844"/>
            <a:ext cx="1190634" cy="644361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3" name="Text 39"/>
          <p:cNvSpPr/>
          <p:nvPr/>
        </p:nvSpPr>
        <p:spPr>
          <a:xfrm>
            <a:off x="2047856" y="5180000"/>
            <a:ext cx="104775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350" dirty="0"/>
          </a:p>
        </p:txBody>
      </p:sp>
      <p:sp>
        <p:nvSpPr>
          <p:cNvPr id="44" name="Text 40"/>
          <p:cNvSpPr/>
          <p:nvPr/>
        </p:nvSpPr>
        <p:spPr>
          <a:xfrm>
            <a:off x="2047856" y="5472894"/>
            <a:ext cx="1047759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Critical Risks</a:t>
            </a:r>
            <a:endParaRPr lang="en-US" sz="720" dirty="0"/>
          </a:p>
        </p:txBody>
      </p:sp>
      <p:sp>
        <p:nvSpPr>
          <p:cNvPr id="45" name="Shape 41"/>
          <p:cNvSpPr/>
          <p:nvPr/>
        </p:nvSpPr>
        <p:spPr>
          <a:xfrm>
            <a:off x="3238491" y="5072844"/>
            <a:ext cx="1190634" cy="644361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6" name="Text 42"/>
          <p:cNvSpPr/>
          <p:nvPr/>
        </p:nvSpPr>
        <p:spPr>
          <a:xfrm>
            <a:off x="3345647" y="5180000"/>
            <a:ext cx="104775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100%</a:t>
            </a:r>
            <a:endParaRPr lang="en-US" sz="1350" dirty="0"/>
          </a:p>
        </p:txBody>
      </p:sp>
      <p:sp>
        <p:nvSpPr>
          <p:cNvPr id="47" name="Text 43"/>
          <p:cNvSpPr/>
          <p:nvPr/>
        </p:nvSpPr>
        <p:spPr>
          <a:xfrm>
            <a:off x="3345647" y="5472894"/>
            <a:ext cx="1047759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Treated</a:t>
            </a:r>
            <a:endParaRPr lang="en-US" sz="720" dirty="0"/>
          </a:p>
        </p:txBody>
      </p:sp>
      <p:sp>
        <p:nvSpPr>
          <p:cNvPr id="48" name="Shape 44"/>
          <p:cNvSpPr/>
          <p:nvPr/>
        </p:nvSpPr>
        <p:spPr>
          <a:xfrm>
            <a:off x="4929188" y="1531637"/>
            <a:ext cx="3786188" cy="280565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2063" y="1714500"/>
            <a:ext cx="160734" cy="160009"/>
          </a:xfrm>
          <a:prstGeom prst="rect">
            <a:avLst/>
          </a:prstGeom>
        </p:spPr>
      </p:pic>
      <p:sp>
        <p:nvSpPr>
          <p:cNvPr id="50" name="Text 45"/>
          <p:cNvSpPr/>
          <p:nvPr/>
        </p:nvSpPr>
        <p:spPr>
          <a:xfrm>
            <a:off x="5304234" y="1674512"/>
            <a:ext cx="1411142" cy="2400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Critical Risks</a:t>
            </a:r>
            <a:endParaRPr lang="en-US" sz="1260" dirty="0"/>
          </a:p>
        </p:txBody>
      </p:sp>
      <p:sp>
        <p:nvSpPr>
          <p:cNvPr id="51" name="Shape 46"/>
          <p:cNvSpPr/>
          <p:nvPr/>
        </p:nvSpPr>
        <p:spPr>
          <a:xfrm>
            <a:off x="5072063" y="2057400"/>
            <a:ext cx="578002" cy="194304"/>
          </a:xfrm>
          <a:prstGeom prst="roundRect">
            <a:avLst/>
          </a:prstGeom>
          <a:solidFill>
            <a:srgbClr val="FEE2E2"/>
          </a:solidFill>
          <a:ln/>
        </p:spPr>
      </p:sp>
      <p:sp>
        <p:nvSpPr>
          <p:cNvPr id="52" name="Text 47"/>
          <p:cNvSpPr/>
          <p:nvPr/>
        </p:nvSpPr>
        <p:spPr>
          <a:xfrm>
            <a:off x="5072063" y="2057400"/>
            <a:ext cx="649439" cy="19430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ctr">
            <a:spAutoFit/>
          </a:bodyPr>
          <a:lstStyle/>
          <a:p>
            <a:pPr marL="0" indent="0">
              <a:buNone/>
            </a:pPr>
            <a:r>
              <a:rPr lang="en-US" sz="720" b="1" dirty="0">
                <a:solidFill>
                  <a:srgbClr val="DC26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CRITICAL</a:t>
            </a:r>
            <a:endParaRPr lang="en-US" sz="720" dirty="0"/>
          </a:p>
        </p:txBody>
      </p:sp>
      <p:sp>
        <p:nvSpPr>
          <p:cNvPr id="53" name="Text 48"/>
          <p:cNvSpPr/>
          <p:nvPr/>
        </p:nvSpPr>
        <p:spPr>
          <a:xfrm>
            <a:off x="5072063" y="2323142"/>
            <a:ext cx="3571875" cy="15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Unauthorized Database Access (R001)</a:t>
            </a:r>
            <a:endParaRPr lang="en-US" sz="810" dirty="0"/>
          </a:p>
        </p:txBody>
      </p:sp>
      <p:sp>
        <p:nvSpPr>
          <p:cNvPr id="54" name="Text 49"/>
          <p:cNvSpPr/>
          <p:nvPr/>
        </p:nvSpPr>
        <p:spPr>
          <a:xfrm>
            <a:off x="5072063" y="2534580"/>
            <a:ext cx="3571875" cy="1280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Weak database access controls and SQL injection vulnerabilities</a:t>
            </a:r>
            <a:endParaRPr lang="en-US" sz="720" dirty="0"/>
          </a:p>
        </p:txBody>
      </p:sp>
      <p:sp>
        <p:nvSpPr>
          <p:cNvPr id="55" name="Shape 50"/>
          <p:cNvSpPr/>
          <p:nvPr/>
        </p:nvSpPr>
        <p:spPr>
          <a:xfrm>
            <a:off x="5072063" y="2769738"/>
            <a:ext cx="578002" cy="194304"/>
          </a:xfrm>
          <a:prstGeom prst="roundRect">
            <a:avLst/>
          </a:prstGeom>
          <a:solidFill>
            <a:srgbClr val="FEE2E2"/>
          </a:solidFill>
          <a:ln/>
        </p:spPr>
      </p:sp>
      <p:sp>
        <p:nvSpPr>
          <p:cNvPr id="56" name="Text 51"/>
          <p:cNvSpPr/>
          <p:nvPr/>
        </p:nvSpPr>
        <p:spPr>
          <a:xfrm>
            <a:off x="5072063" y="2769738"/>
            <a:ext cx="649439" cy="19430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ctr">
            <a:spAutoFit/>
          </a:bodyPr>
          <a:lstStyle/>
          <a:p>
            <a:pPr marL="0" indent="0">
              <a:buNone/>
            </a:pPr>
            <a:r>
              <a:rPr lang="en-US" sz="720" b="1" dirty="0">
                <a:solidFill>
                  <a:srgbClr val="DC26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CRITICAL</a:t>
            </a:r>
            <a:endParaRPr lang="en-US" sz="720" dirty="0"/>
          </a:p>
        </p:txBody>
      </p:sp>
      <p:sp>
        <p:nvSpPr>
          <p:cNvPr id="57" name="Text 52"/>
          <p:cNvSpPr/>
          <p:nvPr/>
        </p:nvSpPr>
        <p:spPr>
          <a:xfrm>
            <a:off x="5072063" y="3035480"/>
            <a:ext cx="3571875" cy="15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Fraudulent Transactions (R004)</a:t>
            </a:r>
            <a:endParaRPr lang="en-US" sz="810" dirty="0"/>
          </a:p>
        </p:txBody>
      </p:sp>
      <p:sp>
        <p:nvSpPr>
          <p:cNvPr id="58" name="Text 53"/>
          <p:cNvSpPr/>
          <p:nvPr/>
        </p:nvSpPr>
        <p:spPr>
          <a:xfrm>
            <a:off x="5072063" y="3246918"/>
            <a:ext cx="3571875" cy="1280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Weak transaction monitoring and fraud detection capabilities</a:t>
            </a:r>
            <a:endParaRPr lang="en-US" sz="720" dirty="0"/>
          </a:p>
        </p:txBody>
      </p:sp>
      <p:sp>
        <p:nvSpPr>
          <p:cNvPr id="59" name="Shape 54"/>
          <p:cNvSpPr/>
          <p:nvPr/>
        </p:nvSpPr>
        <p:spPr>
          <a:xfrm>
            <a:off x="5072063" y="3482076"/>
            <a:ext cx="578002" cy="194304"/>
          </a:xfrm>
          <a:prstGeom prst="roundRect">
            <a:avLst/>
          </a:prstGeom>
          <a:solidFill>
            <a:srgbClr val="FEE2E2"/>
          </a:solidFill>
          <a:ln/>
        </p:spPr>
      </p:sp>
      <p:sp>
        <p:nvSpPr>
          <p:cNvPr id="60" name="Text 55"/>
          <p:cNvSpPr/>
          <p:nvPr/>
        </p:nvSpPr>
        <p:spPr>
          <a:xfrm>
            <a:off x="5072063" y="3482076"/>
            <a:ext cx="649439" cy="19430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ctr">
            <a:spAutoFit/>
          </a:bodyPr>
          <a:lstStyle/>
          <a:p>
            <a:pPr marL="0" indent="0">
              <a:buNone/>
            </a:pPr>
            <a:r>
              <a:rPr lang="en-US" sz="720" b="1" dirty="0">
                <a:solidFill>
                  <a:srgbClr val="DC26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CRITICAL</a:t>
            </a:r>
            <a:endParaRPr lang="en-US" sz="720" dirty="0"/>
          </a:p>
        </p:txBody>
      </p:sp>
      <p:sp>
        <p:nvSpPr>
          <p:cNvPr id="61" name="Text 56"/>
          <p:cNvSpPr/>
          <p:nvPr/>
        </p:nvSpPr>
        <p:spPr>
          <a:xfrm>
            <a:off x="5072063" y="3747818"/>
            <a:ext cx="3571875" cy="15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DDoS Service Disruption (R003)</a:t>
            </a:r>
            <a:endParaRPr lang="en-US" sz="810" dirty="0"/>
          </a:p>
        </p:txBody>
      </p:sp>
      <p:sp>
        <p:nvSpPr>
          <p:cNvPr id="62" name="Text 57"/>
          <p:cNvSpPr/>
          <p:nvPr/>
        </p:nvSpPr>
        <p:spPr>
          <a:xfrm>
            <a:off x="5072063" y="3959256"/>
            <a:ext cx="3571875" cy="1280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Insufficient DDoS mitigation for critical payment services</a:t>
            </a:r>
            <a:endParaRPr lang="en-US" sz="720" dirty="0"/>
          </a:p>
        </p:txBody>
      </p:sp>
      <p:sp>
        <p:nvSpPr>
          <p:cNvPr id="63" name="Shape 58"/>
          <p:cNvSpPr/>
          <p:nvPr/>
        </p:nvSpPr>
        <p:spPr>
          <a:xfrm>
            <a:off x="4929188" y="4480164"/>
            <a:ext cx="3786188" cy="2093314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2063" y="4663027"/>
            <a:ext cx="160734" cy="160009"/>
          </a:xfrm>
          <a:prstGeom prst="rect">
            <a:avLst/>
          </a:prstGeom>
        </p:spPr>
      </p:pic>
      <p:sp>
        <p:nvSpPr>
          <p:cNvPr id="65" name="Text 59"/>
          <p:cNvSpPr/>
          <p:nvPr/>
        </p:nvSpPr>
        <p:spPr>
          <a:xfrm>
            <a:off x="5304234" y="4623039"/>
            <a:ext cx="1841078" cy="2400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Treatment Results</a:t>
            </a:r>
            <a:endParaRPr lang="en-US" sz="1260" dirty="0"/>
          </a:p>
        </p:txBody>
      </p:sp>
      <p:sp>
        <p:nvSpPr>
          <p:cNvPr id="66" name="Shape 60"/>
          <p:cNvSpPr/>
          <p:nvPr/>
        </p:nvSpPr>
        <p:spPr>
          <a:xfrm>
            <a:off x="5072063" y="5005927"/>
            <a:ext cx="378340" cy="194304"/>
          </a:xfrm>
          <a:prstGeom prst="roundRect">
            <a:avLst/>
          </a:prstGeom>
          <a:solidFill>
            <a:srgbClr val="DBEAFE"/>
          </a:solidFill>
          <a:ln/>
        </p:spPr>
      </p:sp>
      <p:sp>
        <p:nvSpPr>
          <p:cNvPr id="67" name="Text 61"/>
          <p:cNvSpPr/>
          <p:nvPr/>
        </p:nvSpPr>
        <p:spPr>
          <a:xfrm>
            <a:off x="5072063" y="5005927"/>
            <a:ext cx="449777" cy="19430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ctr">
            <a:spAutoFit/>
          </a:bodyPr>
          <a:lstStyle/>
          <a:p>
            <a:pPr marL="0" indent="0">
              <a:buNone/>
            </a:pPr>
            <a:r>
              <a:rPr lang="en-US" sz="72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LOW</a:t>
            </a:r>
            <a:endParaRPr lang="en-US" sz="720" dirty="0"/>
          </a:p>
        </p:txBody>
      </p:sp>
      <p:sp>
        <p:nvSpPr>
          <p:cNvPr id="68" name="Text 62"/>
          <p:cNvSpPr/>
          <p:nvPr/>
        </p:nvSpPr>
        <p:spPr>
          <a:xfrm>
            <a:off x="5072063" y="5271669"/>
            <a:ext cx="3571875" cy="15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Risks Reduced to Low Level</a:t>
            </a:r>
            <a:endParaRPr lang="en-US" sz="810" dirty="0"/>
          </a:p>
        </p:txBody>
      </p:sp>
      <p:sp>
        <p:nvSpPr>
          <p:cNvPr id="69" name="Text 63"/>
          <p:cNvSpPr/>
          <p:nvPr/>
        </p:nvSpPr>
        <p:spPr>
          <a:xfrm>
            <a:off x="5072063" y="5483107"/>
            <a:ext cx="3571875" cy="1280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Comprehensive mitigation strategies implemented</a:t>
            </a:r>
            <a:endParaRPr lang="en-US" sz="720" dirty="0"/>
          </a:p>
        </p:txBody>
      </p:sp>
      <p:sp>
        <p:nvSpPr>
          <p:cNvPr id="70" name="Shape 64"/>
          <p:cNvSpPr/>
          <p:nvPr/>
        </p:nvSpPr>
        <p:spPr>
          <a:xfrm>
            <a:off x="5072063" y="5718265"/>
            <a:ext cx="561733" cy="194304"/>
          </a:xfrm>
          <a:prstGeom prst="roundRect">
            <a:avLst/>
          </a:prstGeom>
          <a:solidFill>
            <a:srgbClr val="DBEAFE"/>
          </a:solidFill>
          <a:ln/>
        </p:spPr>
      </p:sp>
      <p:sp>
        <p:nvSpPr>
          <p:cNvPr id="71" name="Text 65"/>
          <p:cNvSpPr/>
          <p:nvPr/>
        </p:nvSpPr>
        <p:spPr>
          <a:xfrm>
            <a:off x="5072063" y="5718265"/>
            <a:ext cx="633171" cy="19430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ctr">
            <a:spAutoFit/>
          </a:bodyPr>
          <a:lstStyle/>
          <a:p>
            <a:pPr marL="0" indent="0">
              <a:buNone/>
            </a:pPr>
            <a:r>
              <a:rPr lang="en-US" sz="72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MEDIUM</a:t>
            </a:r>
            <a:endParaRPr lang="en-US" sz="720" dirty="0"/>
          </a:p>
        </p:txBody>
      </p:sp>
      <p:sp>
        <p:nvSpPr>
          <p:cNvPr id="72" name="Text 66"/>
          <p:cNvSpPr/>
          <p:nvPr/>
        </p:nvSpPr>
        <p:spPr>
          <a:xfrm>
            <a:off x="5072063" y="5984007"/>
            <a:ext cx="3571875" cy="15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Risk at Medium Level</a:t>
            </a:r>
            <a:endParaRPr lang="en-US" sz="810" dirty="0"/>
          </a:p>
        </p:txBody>
      </p:sp>
      <p:sp>
        <p:nvSpPr>
          <p:cNvPr id="73" name="Text 67"/>
          <p:cNvSpPr/>
          <p:nvPr/>
        </p:nvSpPr>
        <p:spPr>
          <a:xfrm>
            <a:off x="5072063" y="6195445"/>
            <a:ext cx="3571875" cy="1280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Acceptable residual risk with ongoing monitoring</a:t>
            </a:r>
            <a:endParaRPr lang="en-US" sz="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8926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24588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83581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Writing Portfolio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428625" y="771525"/>
            <a:ext cx="8358188" cy="188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FFFFFF">
                    <a:alpha val="9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Comprehensive policies aligned with ISO 27001 and POPIA</a:t>
            </a:r>
            <a:endParaRPr lang="en-US" sz="990" dirty="0"/>
          </a:p>
        </p:txBody>
      </p:sp>
      <p:sp>
        <p:nvSpPr>
          <p:cNvPr id="6" name="Shape 3"/>
          <p:cNvSpPr/>
          <p:nvPr/>
        </p:nvSpPr>
        <p:spPr>
          <a:xfrm>
            <a:off x="428625" y="1531637"/>
            <a:ext cx="2619356" cy="3715141"/>
          </a:xfrm>
          <a:prstGeom prst="rect">
            <a:avLst/>
          </a:prstGeom>
          <a:solidFill>
            <a:srgbClr val="FFFFFF"/>
          </a:solidFill>
          <a:ln w="397">
            <a:solidFill>
              <a:srgbClr val="3B82F6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6853" y="1833460"/>
            <a:ext cx="342900" cy="3429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2938" y="2403174"/>
            <a:ext cx="2262169" cy="2228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Information Security Policy</a:t>
            </a:r>
            <a:endParaRPr lang="en-US" sz="1170" dirty="0"/>
          </a:p>
        </p:txBody>
      </p:sp>
      <p:sp>
        <p:nvSpPr>
          <p:cNvPr id="9" name="Text 5"/>
          <p:cNvSpPr/>
          <p:nvPr/>
        </p:nvSpPr>
        <p:spPr>
          <a:xfrm>
            <a:off x="642938" y="2733210"/>
            <a:ext cx="2262169" cy="723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5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Foundational document establishing SecurePay's commitment to protecting information assets </a:t>
            </a:r>
            <a:endParaRPr lang="en-US" sz="855" dirty="0"/>
          </a:p>
          <a:p>
            <a:pPr marL="0" indent="0">
              <a:buNone/>
            </a:pPr>
            <a:r>
              <a:rPr lang="en-US" sz="85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          and providing the framework for implementing security controls.</a:t>
            </a:r>
            <a:endParaRPr lang="en-US" sz="855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8" y="3688073"/>
            <a:ext cx="91083" cy="9144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5458" y="3656651"/>
            <a:ext cx="1664019" cy="15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Security objectives &amp; governance</a:t>
            </a:r>
            <a:endParaRPr lang="en-US" sz="81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8" y="3956661"/>
            <a:ext cx="91083" cy="9144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05458" y="3925239"/>
            <a:ext cx="1186644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Roles &amp; responsibilities</a:t>
            </a:r>
            <a:endParaRPr lang="en-US" sz="81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938" y="4225249"/>
            <a:ext cx="91083" cy="9144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05458" y="4193828"/>
            <a:ext cx="1397412" cy="15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4-theme control framework</a:t>
            </a:r>
            <a:endParaRPr lang="en-US" sz="81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938" y="4493837"/>
            <a:ext cx="91083" cy="91446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05458" y="4462416"/>
            <a:ext cx="896066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POPIA alignment</a:t>
            </a:r>
            <a:endParaRPr lang="en-US" sz="810" dirty="0"/>
          </a:p>
        </p:txBody>
      </p:sp>
      <p:sp>
        <p:nvSpPr>
          <p:cNvPr id="18" name="Shape 10"/>
          <p:cNvSpPr/>
          <p:nvPr/>
        </p:nvSpPr>
        <p:spPr>
          <a:xfrm>
            <a:off x="642938" y="4781010"/>
            <a:ext cx="2190731" cy="251454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19" name="Text 11"/>
          <p:cNvSpPr/>
          <p:nvPr/>
        </p:nvSpPr>
        <p:spPr>
          <a:xfrm>
            <a:off x="642938" y="4781010"/>
            <a:ext cx="2262169" cy="251454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ctr">
            <a:sp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ISO 27001 Annex A Aligned</a:t>
            </a:r>
            <a:endParaRPr lang="en-US" sz="720" dirty="0"/>
          </a:p>
        </p:txBody>
      </p:sp>
      <p:sp>
        <p:nvSpPr>
          <p:cNvPr id="20" name="Shape 12"/>
          <p:cNvSpPr/>
          <p:nvPr/>
        </p:nvSpPr>
        <p:spPr>
          <a:xfrm>
            <a:off x="3262294" y="1531637"/>
            <a:ext cx="2619384" cy="3715141"/>
          </a:xfrm>
          <a:prstGeom prst="rect">
            <a:avLst/>
          </a:prstGeom>
          <a:solidFill>
            <a:srgbClr val="FFFFFF"/>
          </a:solidFill>
          <a:ln w="397">
            <a:solidFill>
              <a:srgbClr val="3B82F6"/>
            </a:solidFill>
            <a:prstDash val="solid"/>
          </a:ln>
        </p:spPr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21953" y="1833460"/>
            <a:ext cx="300038" cy="3429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3476606" y="2403174"/>
            <a:ext cx="2262197" cy="2228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Retention &amp; Destruction</a:t>
            </a:r>
            <a:endParaRPr lang="en-US" sz="1170" dirty="0"/>
          </a:p>
        </p:txBody>
      </p:sp>
      <p:sp>
        <p:nvSpPr>
          <p:cNvPr id="23" name="Text 14"/>
          <p:cNvSpPr/>
          <p:nvPr/>
        </p:nvSpPr>
        <p:spPr>
          <a:xfrm>
            <a:off x="3476606" y="2733210"/>
            <a:ext cx="2262197" cy="723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5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data lifecycle management ensuring compliance with legal requirements </a:t>
            </a:r>
            <a:endParaRPr lang="en-US" sz="855" dirty="0"/>
          </a:p>
          <a:p>
            <a:pPr marL="0" indent="0">
              <a:buNone/>
            </a:pPr>
            <a:r>
              <a:rPr lang="en-US" sz="85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          while minimizing risks from excessive data retention.</a:t>
            </a:r>
            <a:endParaRPr lang="en-US" sz="855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76606" y="3688073"/>
            <a:ext cx="91083" cy="91446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3639127" y="3656651"/>
            <a:ext cx="1312022" cy="15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classification system</a:t>
            </a:r>
            <a:endParaRPr lang="en-US" sz="81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76606" y="3956661"/>
            <a:ext cx="91083" cy="91446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3639127" y="3925239"/>
            <a:ext cx="1049238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Retention schedules</a:t>
            </a:r>
            <a:endParaRPr lang="en-US" sz="81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76606" y="4225249"/>
            <a:ext cx="91083" cy="91446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3639127" y="4193828"/>
            <a:ext cx="1551170" cy="15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Secure destruction procedures</a:t>
            </a:r>
            <a:endParaRPr lang="en-US" sz="810" dirty="0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76606" y="4493837"/>
            <a:ext cx="91083" cy="91446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3639127" y="4462416"/>
            <a:ext cx="1178328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Regulatory compliance</a:t>
            </a:r>
            <a:endParaRPr lang="en-US" sz="810" dirty="0"/>
          </a:p>
        </p:txBody>
      </p:sp>
      <p:sp>
        <p:nvSpPr>
          <p:cNvPr id="32" name="Shape 19"/>
          <p:cNvSpPr/>
          <p:nvPr/>
        </p:nvSpPr>
        <p:spPr>
          <a:xfrm>
            <a:off x="3476606" y="4781010"/>
            <a:ext cx="2190759" cy="251454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33" name="Text 20"/>
          <p:cNvSpPr/>
          <p:nvPr/>
        </p:nvSpPr>
        <p:spPr>
          <a:xfrm>
            <a:off x="3476606" y="4781010"/>
            <a:ext cx="2262197" cy="251454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ctr">
            <a:sp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POPIA &amp; FICA Compliant</a:t>
            </a:r>
            <a:endParaRPr lang="en-US" sz="720" dirty="0"/>
          </a:p>
        </p:txBody>
      </p:sp>
      <p:sp>
        <p:nvSpPr>
          <p:cNvPr id="34" name="Shape 21"/>
          <p:cNvSpPr/>
          <p:nvPr/>
        </p:nvSpPr>
        <p:spPr>
          <a:xfrm>
            <a:off x="6095991" y="1531637"/>
            <a:ext cx="2619356" cy="3715141"/>
          </a:xfrm>
          <a:prstGeom prst="rect">
            <a:avLst/>
          </a:prstGeom>
          <a:solidFill>
            <a:srgbClr val="FFFFFF"/>
          </a:solidFill>
          <a:ln w="397">
            <a:solidFill>
              <a:srgbClr val="3B82F6"/>
            </a:solidFill>
            <a:prstDash val="solid"/>
          </a:ln>
        </p:spPr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34219" y="1833460"/>
            <a:ext cx="342900" cy="342900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6310303" y="2403174"/>
            <a:ext cx="2262169" cy="2228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Control Policy</a:t>
            </a:r>
            <a:endParaRPr lang="en-US" sz="1170" dirty="0"/>
          </a:p>
        </p:txBody>
      </p:sp>
      <p:sp>
        <p:nvSpPr>
          <p:cNvPr id="37" name="Text 23"/>
          <p:cNvSpPr/>
          <p:nvPr/>
        </p:nvSpPr>
        <p:spPr>
          <a:xfrm>
            <a:off x="6310303" y="2733210"/>
            <a:ext cx="2262169" cy="6948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5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Framework for managing access to information systems implementing least privilege </a:t>
            </a:r>
            <a:endParaRPr lang="en-US" sz="855" dirty="0"/>
          </a:p>
          <a:p>
            <a:pPr marL="0" indent="0">
              <a:buNone/>
            </a:pPr>
            <a:r>
              <a:rPr lang="en-US" sz="85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          principles while ensuring business continuity.</a:t>
            </a:r>
            <a:endParaRPr lang="en-US" sz="855" dirty="0"/>
          </a:p>
        </p:txBody>
      </p:sp>
      <p:pic>
        <p:nvPicPr>
          <p:cNvPr id="38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10303" y="3659498"/>
            <a:ext cx="91083" cy="91446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6472824" y="3628076"/>
            <a:ext cx="1217395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Least privilege principle</a:t>
            </a:r>
            <a:endParaRPr lang="en-US" sz="810" dirty="0"/>
          </a:p>
        </p:txBody>
      </p:sp>
      <p:pic>
        <p:nvPicPr>
          <p:cNvPr id="40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10303" y="3928086"/>
            <a:ext cx="91083" cy="91446"/>
          </a:xfrm>
          <a:prstGeom prst="rect">
            <a:avLst/>
          </a:prstGeom>
        </p:spPr>
      </p:pic>
      <p:sp>
        <p:nvSpPr>
          <p:cNvPr id="41" name="Text 25"/>
          <p:cNvSpPr/>
          <p:nvPr/>
        </p:nvSpPr>
        <p:spPr>
          <a:xfrm>
            <a:off x="6472824" y="3896664"/>
            <a:ext cx="1364093" cy="15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Role-based access controls</a:t>
            </a:r>
            <a:endParaRPr lang="en-US" sz="810" dirty="0"/>
          </a:p>
        </p:txBody>
      </p:sp>
      <p:pic>
        <p:nvPicPr>
          <p:cNvPr id="42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10303" y="4196674"/>
            <a:ext cx="91083" cy="91446"/>
          </a:xfrm>
          <a:prstGeom prst="rect">
            <a:avLst/>
          </a:prstGeom>
        </p:spPr>
      </p:pic>
      <p:sp>
        <p:nvSpPr>
          <p:cNvPr id="43" name="Text 26"/>
          <p:cNvSpPr/>
          <p:nvPr/>
        </p:nvSpPr>
        <p:spPr>
          <a:xfrm>
            <a:off x="6472824" y="4165253"/>
            <a:ext cx="1366438" cy="15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Multi-factor authentication</a:t>
            </a:r>
            <a:endParaRPr lang="en-US" sz="810" dirty="0"/>
          </a:p>
        </p:txBody>
      </p:sp>
      <p:pic>
        <p:nvPicPr>
          <p:cNvPr id="44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10303" y="4465262"/>
            <a:ext cx="91083" cy="91446"/>
          </a:xfrm>
          <a:prstGeom prst="rect">
            <a:avLst/>
          </a:prstGeom>
        </p:spPr>
      </p:pic>
      <p:sp>
        <p:nvSpPr>
          <p:cNvPr id="45" name="Text 27"/>
          <p:cNvSpPr/>
          <p:nvPr/>
        </p:nvSpPr>
        <p:spPr>
          <a:xfrm>
            <a:off x="6472824" y="4433841"/>
            <a:ext cx="1174728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Regular access reviews</a:t>
            </a:r>
            <a:endParaRPr lang="en-US" sz="810" dirty="0"/>
          </a:p>
        </p:txBody>
      </p:sp>
      <p:sp>
        <p:nvSpPr>
          <p:cNvPr id="46" name="Shape 28"/>
          <p:cNvSpPr/>
          <p:nvPr/>
        </p:nvSpPr>
        <p:spPr>
          <a:xfrm>
            <a:off x="6310303" y="4752435"/>
            <a:ext cx="2190731" cy="251454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47" name="Text 29"/>
          <p:cNvSpPr/>
          <p:nvPr/>
        </p:nvSpPr>
        <p:spPr>
          <a:xfrm>
            <a:off x="6310303" y="4752435"/>
            <a:ext cx="2262169" cy="251454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ctr">
            <a:sp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Security Best Practices</a:t>
            </a:r>
            <a:endParaRPr lang="en-US" sz="720" dirty="0"/>
          </a:p>
        </p:txBody>
      </p:sp>
      <p:sp>
        <p:nvSpPr>
          <p:cNvPr id="48" name="Shape 30"/>
          <p:cNvSpPr/>
          <p:nvPr/>
        </p:nvSpPr>
        <p:spPr>
          <a:xfrm>
            <a:off x="428625" y="5246387"/>
            <a:ext cx="8286750" cy="714375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49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1500" y="5417837"/>
            <a:ext cx="142875" cy="114300"/>
          </a:xfrm>
          <a:prstGeom prst="rect">
            <a:avLst/>
          </a:prstGeom>
        </p:spPr>
      </p:pic>
      <p:sp>
        <p:nvSpPr>
          <p:cNvPr id="50" name="Text 31"/>
          <p:cNvSpPr/>
          <p:nvPr/>
        </p:nvSpPr>
        <p:spPr>
          <a:xfrm>
            <a:off x="771525" y="5389262"/>
            <a:ext cx="20077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Standards &amp; Regulatory Alignment</a:t>
            </a:r>
            <a:endParaRPr lang="en-US" sz="900" dirty="0"/>
          </a:p>
        </p:txBody>
      </p:sp>
      <p:sp>
        <p:nvSpPr>
          <p:cNvPr id="51" name="Shape 32"/>
          <p:cNvSpPr/>
          <p:nvPr/>
        </p:nvSpPr>
        <p:spPr>
          <a:xfrm>
            <a:off x="571500" y="5632149"/>
            <a:ext cx="774678" cy="185738"/>
          </a:xfrm>
          <a:prstGeom prst="roundRect">
            <a:avLst/>
          </a:prstGeom>
          <a:solidFill>
            <a:srgbClr val="3B82F6"/>
          </a:solidFill>
          <a:ln/>
        </p:spPr>
      </p:sp>
      <p:sp>
        <p:nvSpPr>
          <p:cNvPr id="52" name="Text 33"/>
          <p:cNvSpPr/>
          <p:nvPr/>
        </p:nvSpPr>
        <p:spPr>
          <a:xfrm>
            <a:off x="571500" y="5632149"/>
            <a:ext cx="846116" cy="185738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ctr">
            <a:spAutoFit/>
          </a:bodyPr>
          <a:lstStyle/>
          <a:p>
            <a:pPr marL="0" indent="0">
              <a:buNone/>
            </a:pPr>
            <a:r>
              <a:rPr lang="en-US" sz="6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ISO 27001:2022</a:t>
            </a:r>
            <a:endParaRPr lang="en-US" sz="675" dirty="0"/>
          </a:p>
        </p:txBody>
      </p:sp>
      <p:sp>
        <p:nvSpPr>
          <p:cNvPr id="53" name="Shape 34"/>
          <p:cNvSpPr/>
          <p:nvPr/>
        </p:nvSpPr>
        <p:spPr>
          <a:xfrm>
            <a:off x="1403328" y="5632149"/>
            <a:ext cx="935943" cy="185738"/>
          </a:xfrm>
          <a:prstGeom prst="roundRect">
            <a:avLst/>
          </a:prstGeom>
          <a:solidFill>
            <a:srgbClr val="3B82F6"/>
          </a:solidFill>
          <a:ln/>
        </p:spPr>
      </p:sp>
      <p:sp>
        <p:nvSpPr>
          <p:cNvPr id="54" name="Text 35"/>
          <p:cNvSpPr/>
          <p:nvPr/>
        </p:nvSpPr>
        <p:spPr>
          <a:xfrm>
            <a:off x="1403328" y="5632149"/>
            <a:ext cx="1007380" cy="185738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ctr">
            <a:spAutoFit/>
          </a:bodyPr>
          <a:lstStyle/>
          <a:p>
            <a:pPr marL="0" indent="0">
              <a:buNone/>
            </a:pPr>
            <a:r>
              <a:rPr lang="en-US" sz="6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POPIA 8 Conditions</a:t>
            </a:r>
            <a:endParaRPr lang="en-US" sz="675" dirty="0"/>
          </a:p>
        </p:txBody>
      </p:sp>
      <p:sp>
        <p:nvSpPr>
          <p:cNvPr id="55" name="Shape 36"/>
          <p:cNvSpPr/>
          <p:nvPr/>
        </p:nvSpPr>
        <p:spPr>
          <a:xfrm>
            <a:off x="2396421" y="5632149"/>
            <a:ext cx="865733" cy="185738"/>
          </a:xfrm>
          <a:prstGeom prst="roundRect">
            <a:avLst/>
          </a:prstGeom>
          <a:solidFill>
            <a:srgbClr val="3B82F6"/>
          </a:solidFill>
          <a:ln/>
        </p:spPr>
      </p:sp>
      <p:sp>
        <p:nvSpPr>
          <p:cNvPr id="56" name="Text 37"/>
          <p:cNvSpPr/>
          <p:nvPr/>
        </p:nvSpPr>
        <p:spPr>
          <a:xfrm>
            <a:off x="2396421" y="5632149"/>
            <a:ext cx="937171" cy="185738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ctr">
            <a:spAutoFit/>
          </a:bodyPr>
          <a:lstStyle/>
          <a:p>
            <a:pPr marL="0" indent="0">
              <a:buNone/>
            </a:pPr>
            <a:r>
              <a:rPr lang="en-US" sz="6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SARB Regulations</a:t>
            </a:r>
            <a:endParaRPr lang="en-US" sz="675" dirty="0"/>
          </a:p>
        </p:txBody>
      </p:sp>
      <p:sp>
        <p:nvSpPr>
          <p:cNvPr id="57" name="Shape 38"/>
          <p:cNvSpPr/>
          <p:nvPr/>
        </p:nvSpPr>
        <p:spPr>
          <a:xfrm>
            <a:off x="3319304" y="5632149"/>
            <a:ext cx="927348" cy="185738"/>
          </a:xfrm>
          <a:prstGeom prst="roundRect">
            <a:avLst/>
          </a:prstGeom>
          <a:solidFill>
            <a:srgbClr val="3B82F6"/>
          </a:solidFill>
          <a:ln/>
        </p:spPr>
      </p:sp>
      <p:sp>
        <p:nvSpPr>
          <p:cNvPr id="58" name="Text 39"/>
          <p:cNvSpPr/>
          <p:nvPr/>
        </p:nvSpPr>
        <p:spPr>
          <a:xfrm>
            <a:off x="3319304" y="5632149"/>
            <a:ext cx="998786" cy="185738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ctr">
            <a:spAutoFit/>
          </a:bodyPr>
          <a:lstStyle/>
          <a:p>
            <a:pPr marL="0" indent="0">
              <a:buNone/>
            </a:pPr>
            <a:r>
              <a:rPr lang="en-US" sz="6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FICA Requirements</a:t>
            </a:r>
            <a:endParaRPr lang="en-US" sz="675" dirty="0"/>
          </a:p>
        </p:txBody>
      </p:sp>
      <p:sp>
        <p:nvSpPr>
          <p:cNvPr id="59" name="Shape 40"/>
          <p:cNvSpPr/>
          <p:nvPr/>
        </p:nvSpPr>
        <p:spPr>
          <a:xfrm>
            <a:off x="4303802" y="5632149"/>
            <a:ext cx="966890" cy="185738"/>
          </a:xfrm>
          <a:prstGeom prst="roundRect">
            <a:avLst/>
          </a:prstGeom>
          <a:solidFill>
            <a:srgbClr val="3B82F6"/>
          </a:solidFill>
          <a:ln/>
        </p:spPr>
      </p:sp>
      <p:sp>
        <p:nvSpPr>
          <p:cNvPr id="60" name="Text 41"/>
          <p:cNvSpPr/>
          <p:nvPr/>
        </p:nvSpPr>
        <p:spPr>
          <a:xfrm>
            <a:off x="4303802" y="5632149"/>
            <a:ext cx="1038327" cy="185738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ctr">
            <a:spAutoFit/>
          </a:bodyPr>
          <a:lstStyle/>
          <a:p>
            <a:pPr marL="0" indent="0">
              <a:buNone/>
            </a:pPr>
            <a:r>
              <a:rPr lang="en-US" sz="6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93 Annex A Controls</a:t>
            </a:r>
            <a:endParaRPr lang="en-US" sz="6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8926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24588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83581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GRC Dashboard Prototype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428625" y="771525"/>
            <a:ext cx="8358188" cy="188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FFFFFF">
                    <a:alpha val="9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Lightweight dashboard for real-time GRC visualization</a:t>
            </a:r>
            <a:endParaRPr lang="en-US" sz="990" dirty="0"/>
          </a:p>
        </p:txBody>
      </p:sp>
      <p:sp>
        <p:nvSpPr>
          <p:cNvPr id="6" name="Shape 3"/>
          <p:cNvSpPr/>
          <p:nvPr/>
        </p:nvSpPr>
        <p:spPr>
          <a:xfrm>
            <a:off x="428625" y="1531637"/>
            <a:ext cx="4972050" cy="3571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642938" y="1745949"/>
            <a:ext cx="4543425" cy="38576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5"/>
          <p:cNvSpPr/>
          <p:nvPr/>
        </p:nvSpPr>
        <p:spPr>
          <a:xfrm>
            <a:off x="642938" y="1745949"/>
            <a:ext cx="4614863" cy="385763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GRC Dashboard - SecurePay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2938" y="2274587"/>
            <a:ext cx="2218134" cy="807216"/>
          </a:xfrm>
          <a:prstGeom prst="rect">
            <a:avLst/>
          </a:prstGeom>
          <a:solidFill>
            <a:srgbClr val="F8FAFC"/>
          </a:solidFill>
          <a:ln w="99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80567" y="2381743"/>
            <a:ext cx="142875" cy="142875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8"/>
          <p:cNvSpPr/>
          <p:nvPr/>
        </p:nvSpPr>
        <p:spPr>
          <a:xfrm>
            <a:off x="750094" y="2581768"/>
            <a:ext cx="2075259" cy="1371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Overall GRC Status</a:t>
            </a:r>
            <a:endParaRPr lang="en-US" sz="720" dirty="0"/>
          </a:p>
        </p:txBody>
      </p:sp>
      <p:sp>
        <p:nvSpPr>
          <p:cNvPr id="12" name="Text 9"/>
          <p:cNvSpPr/>
          <p:nvPr/>
        </p:nvSpPr>
        <p:spPr>
          <a:xfrm>
            <a:off x="750094" y="2754641"/>
            <a:ext cx="2075259" cy="2057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GREEN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2968228" y="2274587"/>
            <a:ext cx="2218134" cy="792928"/>
          </a:xfrm>
          <a:prstGeom prst="rect">
            <a:avLst/>
          </a:prstGeom>
          <a:solidFill>
            <a:srgbClr val="F8FAFC"/>
          </a:solidFill>
          <a:ln w="99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075384" y="2381743"/>
            <a:ext cx="2075259" cy="1371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POPIA Compliance</a:t>
            </a:r>
            <a:endParaRPr lang="en-US" sz="720" dirty="0"/>
          </a:p>
        </p:txBody>
      </p:sp>
      <p:sp>
        <p:nvSpPr>
          <p:cNvPr id="15" name="Text 12"/>
          <p:cNvSpPr/>
          <p:nvPr/>
        </p:nvSpPr>
        <p:spPr>
          <a:xfrm>
            <a:off x="3075384" y="2554616"/>
            <a:ext cx="2075259" cy="2057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85%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642938" y="3174671"/>
            <a:ext cx="2218134" cy="607191"/>
          </a:xfrm>
          <a:prstGeom prst="rect">
            <a:avLst/>
          </a:prstGeom>
          <a:solidFill>
            <a:srgbClr val="F8FAFC"/>
          </a:solidFill>
          <a:ln w="99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0094" y="3281828"/>
            <a:ext cx="2075259" cy="1371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ISO 27001 Controls</a:t>
            </a:r>
            <a:endParaRPr lang="en-US" sz="720" dirty="0"/>
          </a:p>
        </p:txBody>
      </p:sp>
      <p:sp>
        <p:nvSpPr>
          <p:cNvPr id="18" name="Text 15"/>
          <p:cNvSpPr/>
          <p:nvPr/>
        </p:nvSpPr>
        <p:spPr>
          <a:xfrm>
            <a:off x="750094" y="3454701"/>
            <a:ext cx="2075259" cy="2057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78%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2968228" y="3174671"/>
            <a:ext cx="2218134" cy="607191"/>
          </a:xfrm>
          <a:prstGeom prst="rect">
            <a:avLst/>
          </a:prstGeom>
          <a:solidFill>
            <a:srgbClr val="F8FAFC"/>
          </a:solidFill>
          <a:ln w="99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075384" y="3281828"/>
            <a:ext cx="2075259" cy="1371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Open Incidents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3075384" y="3454701"/>
            <a:ext cx="2075259" cy="2057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080" dirty="0"/>
          </a:p>
        </p:txBody>
      </p:sp>
      <p:sp>
        <p:nvSpPr>
          <p:cNvPr id="22" name="Text 19"/>
          <p:cNvSpPr/>
          <p:nvPr/>
        </p:nvSpPr>
        <p:spPr>
          <a:xfrm>
            <a:off x="642938" y="3910450"/>
            <a:ext cx="4614863" cy="15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Risk Matrix</a:t>
            </a:r>
            <a:endParaRPr lang="en-US" sz="810" dirty="0"/>
          </a:p>
        </p:txBody>
      </p:sp>
      <p:sp>
        <p:nvSpPr>
          <p:cNvPr id="23" name="Shape 20"/>
          <p:cNvSpPr/>
          <p:nvPr/>
        </p:nvSpPr>
        <p:spPr>
          <a:xfrm>
            <a:off x="642938" y="4136175"/>
            <a:ext cx="4543425" cy="857250"/>
          </a:xfrm>
          <a:prstGeom prst="rect">
            <a:avLst/>
          </a:prstGeom>
          <a:solidFill>
            <a:srgbClr val="F8FAFC"/>
          </a:solidFill>
          <a:ln w="99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137656" y="4487642"/>
            <a:ext cx="1696836" cy="15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Likelihood vs Impact Visualization</a:t>
            </a:r>
            <a:endParaRPr lang="en-US" sz="810" dirty="0"/>
          </a:p>
        </p:txBody>
      </p:sp>
      <p:sp>
        <p:nvSpPr>
          <p:cNvPr id="25" name="Text 22"/>
          <p:cNvSpPr/>
          <p:nvPr/>
        </p:nvSpPr>
        <p:spPr>
          <a:xfrm>
            <a:off x="642938" y="5100582"/>
            <a:ext cx="4614863" cy="15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Top 3 Risks</a:t>
            </a:r>
            <a:endParaRPr lang="en-US" sz="810" dirty="0"/>
          </a:p>
        </p:txBody>
      </p:sp>
      <p:sp>
        <p:nvSpPr>
          <p:cNvPr id="26" name="Text 23"/>
          <p:cNvSpPr/>
          <p:nvPr/>
        </p:nvSpPr>
        <p:spPr>
          <a:xfrm>
            <a:off x="642938" y="5326307"/>
            <a:ext cx="1498011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 Unauthorized Database Access</a:t>
            </a:r>
            <a:endParaRPr lang="en-US" sz="720" dirty="0"/>
          </a:p>
        </p:txBody>
      </p:sp>
      <p:sp>
        <p:nvSpPr>
          <p:cNvPr id="27" name="Text 24"/>
          <p:cNvSpPr/>
          <p:nvPr/>
        </p:nvSpPr>
        <p:spPr>
          <a:xfrm>
            <a:off x="642938" y="5454309"/>
            <a:ext cx="1205396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 Fraudulent Transactions</a:t>
            </a:r>
            <a:endParaRPr lang="en-US" sz="720" dirty="0"/>
          </a:p>
        </p:txBody>
      </p:sp>
      <p:sp>
        <p:nvSpPr>
          <p:cNvPr id="28" name="Text 25"/>
          <p:cNvSpPr/>
          <p:nvPr/>
        </p:nvSpPr>
        <p:spPr>
          <a:xfrm>
            <a:off x="642938" y="5582310"/>
            <a:ext cx="1216447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 DDoS Service Disruption</a:t>
            </a:r>
            <a:endParaRPr lang="en-US" sz="720" dirty="0"/>
          </a:p>
        </p:txBody>
      </p:sp>
      <p:sp>
        <p:nvSpPr>
          <p:cNvPr id="29" name="Shape 26"/>
          <p:cNvSpPr/>
          <p:nvPr/>
        </p:nvSpPr>
        <p:spPr>
          <a:xfrm>
            <a:off x="642938" y="5817468"/>
            <a:ext cx="4543425" cy="58860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" name="Text 27"/>
          <p:cNvSpPr/>
          <p:nvPr/>
        </p:nvSpPr>
        <p:spPr>
          <a:xfrm>
            <a:off x="750094" y="5924624"/>
            <a:ext cx="4400550" cy="15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Implementation Platform</a:t>
            </a:r>
            <a:endParaRPr lang="en-US" sz="810" dirty="0"/>
          </a:p>
        </p:txBody>
      </p:sp>
      <p:sp>
        <p:nvSpPr>
          <p:cNvPr id="31" name="Shape 28"/>
          <p:cNvSpPr/>
          <p:nvPr/>
        </p:nvSpPr>
        <p:spPr>
          <a:xfrm>
            <a:off x="750094" y="6136063"/>
            <a:ext cx="663141" cy="16285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2" name="Text 29"/>
          <p:cNvSpPr/>
          <p:nvPr/>
        </p:nvSpPr>
        <p:spPr>
          <a:xfrm>
            <a:off x="750094" y="6136063"/>
            <a:ext cx="734578" cy="162855"/>
          </a:xfrm>
          <a:prstGeom prst="rect">
            <a:avLst/>
          </a:prstGeom>
          <a:noFill/>
          <a:ln/>
        </p:spPr>
        <p:txBody>
          <a:bodyPr wrap="none" lIns="68072" tIns="25527" rIns="68072" bIns="25527" rtlCol="0" anchor="ctr">
            <a:spAutoFit/>
          </a:bodyPr>
          <a:lstStyle/>
          <a:p>
            <a:pPr marL="0" indent="0">
              <a:buNone/>
            </a:pPr>
            <a:r>
              <a:rPr lang="en-US" sz="63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Google Sheets</a:t>
            </a:r>
            <a:endParaRPr lang="en-US" sz="630" dirty="0"/>
          </a:p>
        </p:txBody>
      </p:sp>
      <p:sp>
        <p:nvSpPr>
          <p:cNvPr id="33" name="Shape 30"/>
          <p:cNvSpPr/>
          <p:nvPr/>
        </p:nvSpPr>
        <p:spPr>
          <a:xfrm>
            <a:off x="1456097" y="6136063"/>
            <a:ext cx="307432" cy="16285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1456097" y="6136063"/>
            <a:ext cx="378870" cy="162855"/>
          </a:xfrm>
          <a:prstGeom prst="rect">
            <a:avLst/>
          </a:prstGeom>
          <a:noFill/>
          <a:ln/>
        </p:spPr>
        <p:txBody>
          <a:bodyPr wrap="none" lIns="68072" tIns="25527" rIns="68072" bIns="25527" rtlCol="0" anchor="ctr">
            <a:spAutoFit/>
          </a:bodyPr>
          <a:lstStyle/>
          <a:p>
            <a:pPr marL="0" indent="0">
              <a:buNone/>
            </a:pPr>
            <a:r>
              <a:rPr lang="en-US" sz="63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Excel</a:t>
            </a:r>
            <a:endParaRPr lang="en-US" sz="630" dirty="0"/>
          </a:p>
        </p:txBody>
      </p:sp>
      <p:sp>
        <p:nvSpPr>
          <p:cNvPr id="35" name="Shape 32"/>
          <p:cNvSpPr/>
          <p:nvPr/>
        </p:nvSpPr>
        <p:spPr>
          <a:xfrm>
            <a:off x="1806392" y="6136063"/>
            <a:ext cx="1005315" cy="16285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6" name="Text 33"/>
          <p:cNvSpPr/>
          <p:nvPr/>
        </p:nvSpPr>
        <p:spPr>
          <a:xfrm>
            <a:off x="1806392" y="6136063"/>
            <a:ext cx="1076753" cy="162855"/>
          </a:xfrm>
          <a:prstGeom prst="rect">
            <a:avLst/>
          </a:prstGeom>
          <a:noFill/>
          <a:ln/>
        </p:spPr>
        <p:txBody>
          <a:bodyPr wrap="none" lIns="68072" tIns="25527" rIns="68072" bIns="25527" rtlCol="0" anchor="ctr">
            <a:spAutoFit/>
          </a:bodyPr>
          <a:lstStyle/>
          <a:p>
            <a:pPr marL="0" indent="0">
              <a:buNone/>
            </a:pPr>
            <a:r>
              <a:rPr lang="en-US" sz="63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Conditional Formatting</a:t>
            </a:r>
            <a:endParaRPr lang="en-US" sz="630" dirty="0"/>
          </a:p>
        </p:txBody>
      </p:sp>
      <p:sp>
        <p:nvSpPr>
          <p:cNvPr id="37" name="Shape 34"/>
          <p:cNvSpPr/>
          <p:nvPr/>
        </p:nvSpPr>
        <p:spPr>
          <a:xfrm>
            <a:off x="2854570" y="6136063"/>
            <a:ext cx="922772" cy="16285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8" name="Text 35"/>
          <p:cNvSpPr/>
          <p:nvPr/>
        </p:nvSpPr>
        <p:spPr>
          <a:xfrm>
            <a:off x="2854570" y="6136063"/>
            <a:ext cx="994209" cy="162855"/>
          </a:xfrm>
          <a:prstGeom prst="rect">
            <a:avLst/>
          </a:prstGeom>
          <a:noFill/>
          <a:ln/>
        </p:spPr>
        <p:txBody>
          <a:bodyPr wrap="none" lIns="68072" tIns="25527" rIns="68072" bIns="25527" rtlCol="0" anchor="ctr">
            <a:spAutoFit/>
          </a:bodyPr>
          <a:lstStyle/>
          <a:p>
            <a:pPr marL="0" indent="0">
              <a:buNone/>
            </a:pPr>
            <a:r>
              <a:rPr lang="en-US" sz="63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Automated Formulas</a:t>
            </a:r>
            <a:endParaRPr lang="en-US" sz="630" dirty="0"/>
          </a:p>
        </p:txBody>
      </p:sp>
      <p:sp>
        <p:nvSpPr>
          <p:cNvPr id="39" name="Shape 36"/>
          <p:cNvSpPr/>
          <p:nvPr/>
        </p:nvSpPr>
        <p:spPr>
          <a:xfrm>
            <a:off x="5686425" y="1531637"/>
            <a:ext cx="3028950" cy="18088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7"/>
          <p:cNvSpPr/>
          <p:nvPr/>
        </p:nvSpPr>
        <p:spPr>
          <a:xfrm>
            <a:off x="5686425" y="1531637"/>
            <a:ext cx="28575" cy="1808848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4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5019" y="1741652"/>
            <a:ext cx="141089" cy="125741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6077545" y="1710230"/>
            <a:ext cx="861017" cy="1886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9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Features</a:t>
            </a:r>
            <a:endParaRPr lang="en-US" sz="990" dirty="0"/>
          </a:p>
        </p:txBody>
      </p:sp>
      <p:sp>
        <p:nvSpPr>
          <p:cNvPr id="43" name="Text 39"/>
          <p:cNvSpPr/>
          <p:nvPr/>
        </p:nvSpPr>
        <p:spPr>
          <a:xfrm>
            <a:off x="5865019" y="1999919"/>
            <a:ext cx="2743200" cy="2492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visualization of  Ubuntu GRC metrics with automated scoring and visual indicators.</a:t>
            </a:r>
            <a:endParaRPr lang="en-US" sz="810" dirty="0"/>
          </a:p>
        </p:txBody>
      </p:sp>
      <p:pic>
        <p:nvPicPr>
          <p:cNvPr id="4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5019" y="2411741"/>
            <a:ext cx="80367" cy="80004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6002536" y="2378869"/>
            <a:ext cx="1362140" cy="1457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Red/Yellow/Green indicators</a:t>
            </a:r>
            <a:endParaRPr lang="en-US" sz="765" dirty="0"/>
          </a:p>
        </p:txBody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5019" y="2614640"/>
            <a:ext cx="80367" cy="80004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6002536" y="2581768"/>
            <a:ext cx="1167473" cy="145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Risk matrix visualization</a:t>
            </a:r>
            <a:endParaRPr lang="en-US" sz="765" dirty="0"/>
          </a:p>
        </p:txBody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5019" y="2817540"/>
            <a:ext cx="80367" cy="80004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6002536" y="2784667"/>
            <a:ext cx="1432266" cy="1457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Compliance progress tracking</a:t>
            </a:r>
            <a:endParaRPr lang="en-US" sz="765" dirty="0"/>
          </a:p>
        </p:txBody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5019" y="3020439"/>
            <a:ext cx="80367" cy="80004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6002536" y="2987566"/>
            <a:ext cx="1450321" cy="1457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Incident management metrics</a:t>
            </a:r>
            <a:endParaRPr lang="en-US" sz="765" dirty="0"/>
          </a:p>
        </p:txBody>
      </p:sp>
      <p:sp>
        <p:nvSpPr>
          <p:cNvPr id="52" name="Shape 44"/>
          <p:cNvSpPr/>
          <p:nvPr/>
        </p:nvSpPr>
        <p:spPr>
          <a:xfrm>
            <a:off x="5686425" y="3483359"/>
            <a:ext cx="3028950" cy="18088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Shape 45"/>
          <p:cNvSpPr/>
          <p:nvPr/>
        </p:nvSpPr>
        <p:spPr>
          <a:xfrm>
            <a:off x="5686425" y="3483359"/>
            <a:ext cx="28575" cy="1808848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54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65019" y="3693375"/>
            <a:ext cx="157163" cy="125741"/>
          </a:xfrm>
          <a:prstGeom prst="rect">
            <a:avLst/>
          </a:prstGeom>
        </p:spPr>
      </p:pic>
      <p:sp>
        <p:nvSpPr>
          <p:cNvPr id="55" name="Text 46"/>
          <p:cNvSpPr/>
          <p:nvPr/>
        </p:nvSpPr>
        <p:spPr>
          <a:xfrm>
            <a:off x="6093619" y="3661953"/>
            <a:ext cx="769739" cy="1886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9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Automation</a:t>
            </a:r>
            <a:endParaRPr lang="en-US" sz="990" dirty="0"/>
          </a:p>
        </p:txBody>
      </p:sp>
      <p:sp>
        <p:nvSpPr>
          <p:cNvPr id="56" name="Text 47"/>
          <p:cNvSpPr/>
          <p:nvPr/>
        </p:nvSpPr>
        <p:spPr>
          <a:xfrm>
            <a:off x="5865019" y="3922002"/>
            <a:ext cx="2743200" cy="3085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Minimal manual intervention with automated calculations and dynamic updates.</a:t>
            </a:r>
            <a:endParaRPr lang="en-US" sz="810" dirty="0"/>
          </a:p>
        </p:txBody>
      </p:sp>
      <p:pic>
        <p:nvPicPr>
          <p:cNvPr id="57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5019" y="4363464"/>
            <a:ext cx="80367" cy="80004"/>
          </a:xfrm>
          <a:prstGeom prst="rect">
            <a:avLst/>
          </a:prstGeom>
        </p:spPr>
      </p:pic>
      <p:sp>
        <p:nvSpPr>
          <p:cNvPr id="58" name="Text 48"/>
          <p:cNvSpPr/>
          <p:nvPr/>
        </p:nvSpPr>
        <p:spPr>
          <a:xfrm>
            <a:off x="6002536" y="4330591"/>
            <a:ext cx="1133261" cy="145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Automated risk scoring</a:t>
            </a:r>
            <a:endParaRPr lang="en-US" sz="765" dirty="0"/>
          </a:p>
        </p:txBody>
      </p:sp>
      <p:pic>
        <p:nvPicPr>
          <p:cNvPr id="59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65019" y="4566363"/>
            <a:ext cx="80367" cy="80004"/>
          </a:xfrm>
          <a:prstGeom prst="rect">
            <a:avLst/>
          </a:prstGeom>
        </p:spPr>
      </p:pic>
      <p:sp>
        <p:nvSpPr>
          <p:cNvPr id="60" name="Text 49"/>
          <p:cNvSpPr/>
          <p:nvPr/>
        </p:nvSpPr>
        <p:spPr>
          <a:xfrm>
            <a:off x="6002536" y="4533491"/>
            <a:ext cx="1248677" cy="145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Dynamic status indicators</a:t>
            </a:r>
            <a:endParaRPr lang="en-US" sz="765" dirty="0"/>
          </a:p>
        </p:txBody>
      </p:sp>
      <p:pic>
        <p:nvPicPr>
          <p:cNvPr id="61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5019" y="4769262"/>
            <a:ext cx="80367" cy="80004"/>
          </a:xfrm>
          <a:prstGeom prst="rect">
            <a:avLst/>
          </a:prstGeom>
        </p:spPr>
      </p:pic>
      <p:sp>
        <p:nvSpPr>
          <p:cNvPr id="62" name="Text 50"/>
          <p:cNvSpPr/>
          <p:nvPr/>
        </p:nvSpPr>
        <p:spPr>
          <a:xfrm>
            <a:off x="6002536" y="4736390"/>
            <a:ext cx="979587" cy="145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Linked data sources</a:t>
            </a:r>
            <a:endParaRPr lang="en-US" sz="765" dirty="0"/>
          </a:p>
        </p:txBody>
      </p:sp>
      <p:pic>
        <p:nvPicPr>
          <p:cNvPr id="63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5019" y="4972162"/>
            <a:ext cx="80367" cy="80004"/>
          </a:xfrm>
          <a:prstGeom prst="rect">
            <a:avLst/>
          </a:prstGeom>
        </p:spPr>
      </p:pic>
      <p:sp>
        <p:nvSpPr>
          <p:cNvPr id="64" name="Text 51"/>
          <p:cNvSpPr/>
          <p:nvPr/>
        </p:nvSpPr>
        <p:spPr>
          <a:xfrm>
            <a:off x="6002536" y="4939289"/>
            <a:ext cx="898885" cy="145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Real-time updates</a:t>
            </a:r>
            <a:endParaRPr lang="en-US" sz="765" dirty="0"/>
          </a:p>
        </p:txBody>
      </p:sp>
      <p:sp>
        <p:nvSpPr>
          <p:cNvPr id="65" name="Shape 52"/>
          <p:cNvSpPr/>
          <p:nvPr/>
        </p:nvSpPr>
        <p:spPr>
          <a:xfrm>
            <a:off x="5686425" y="5435082"/>
            <a:ext cx="3028950" cy="18088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Shape 53"/>
          <p:cNvSpPr/>
          <p:nvPr/>
        </p:nvSpPr>
        <p:spPr>
          <a:xfrm>
            <a:off x="5686425" y="5435082"/>
            <a:ext cx="28575" cy="1808848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67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65019" y="5645097"/>
            <a:ext cx="157163" cy="125741"/>
          </a:xfrm>
          <a:prstGeom prst="rect">
            <a:avLst/>
          </a:prstGeom>
        </p:spPr>
      </p:pic>
      <p:sp>
        <p:nvSpPr>
          <p:cNvPr id="68" name="Text 54"/>
          <p:cNvSpPr/>
          <p:nvPr/>
        </p:nvSpPr>
        <p:spPr>
          <a:xfrm>
            <a:off x="6093619" y="5613676"/>
            <a:ext cx="1154441" cy="1886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9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Stakeholder Value</a:t>
            </a:r>
            <a:endParaRPr lang="en-US" sz="990" dirty="0"/>
          </a:p>
        </p:txBody>
      </p:sp>
      <p:sp>
        <p:nvSpPr>
          <p:cNvPr id="69" name="Text 55"/>
          <p:cNvSpPr/>
          <p:nvPr/>
        </p:nvSpPr>
        <p:spPr>
          <a:xfrm>
            <a:off x="5865019" y="5873725"/>
            <a:ext cx="2743200" cy="3085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Designed for executive-level insights and operational team efficiency.</a:t>
            </a:r>
            <a:endParaRPr lang="en-US" sz="810" dirty="0"/>
          </a:p>
        </p:txBody>
      </p:sp>
      <p:pic>
        <p:nvPicPr>
          <p:cNvPr id="70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5019" y="6315187"/>
            <a:ext cx="80367" cy="80004"/>
          </a:xfrm>
          <a:prstGeom prst="rect">
            <a:avLst/>
          </a:prstGeom>
        </p:spPr>
      </p:pic>
      <p:sp>
        <p:nvSpPr>
          <p:cNvPr id="71" name="Text 56"/>
          <p:cNvSpPr/>
          <p:nvPr/>
        </p:nvSpPr>
        <p:spPr>
          <a:xfrm>
            <a:off x="6002536" y="6282314"/>
            <a:ext cx="1187090" cy="145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Executive summary view</a:t>
            </a:r>
            <a:endParaRPr lang="en-US" sz="765" dirty="0"/>
          </a:p>
        </p:txBody>
      </p:sp>
      <p:pic>
        <p:nvPicPr>
          <p:cNvPr id="72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65019" y="6518086"/>
            <a:ext cx="80367" cy="80004"/>
          </a:xfrm>
          <a:prstGeom prst="rect">
            <a:avLst/>
          </a:prstGeom>
        </p:spPr>
      </p:pic>
      <p:sp>
        <p:nvSpPr>
          <p:cNvPr id="73" name="Text 57"/>
          <p:cNvSpPr/>
          <p:nvPr/>
        </p:nvSpPr>
        <p:spPr>
          <a:xfrm>
            <a:off x="6002536" y="6485213"/>
            <a:ext cx="1097514" cy="145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Operational drill-down</a:t>
            </a:r>
            <a:endParaRPr lang="en-US" sz="765" dirty="0"/>
          </a:p>
        </p:txBody>
      </p:sp>
      <p:pic>
        <p:nvPicPr>
          <p:cNvPr id="74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65019" y="6720985"/>
            <a:ext cx="80367" cy="80004"/>
          </a:xfrm>
          <a:prstGeom prst="rect">
            <a:avLst/>
          </a:prstGeom>
        </p:spPr>
      </p:pic>
      <p:sp>
        <p:nvSpPr>
          <p:cNvPr id="75" name="Text 58"/>
          <p:cNvSpPr/>
          <p:nvPr/>
        </p:nvSpPr>
        <p:spPr>
          <a:xfrm>
            <a:off x="6002536" y="6688113"/>
            <a:ext cx="901787" cy="145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Audit trail support</a:t>
            </a:r>
            <a:endParaRPr lang="en-US" sz="765" dirty="0"/>
          </a:p>
        </p:txBody>
      </p:sp>
      <p:pic>
        <p:nvPicPr>
          <p:cNvPr id="76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65019" y="6923884"/>
            <a:ext cx="80367" cy="80004"/>
          </a:xfrm>
          <a:prstGeom prst="rect">
            <a:avLst/>
          </a:prstGeom>
        </p:spPr>
      </p:pic>
      <p:sp>
        <p:nvSpPr>
          <p:cNvPr id="77" name="Text 59"/>
          <p:cNvSpPr/>
          <p:nvPr/>
        </p:nvSpPr>
        <p:spPr>
          <a:xfrm>
            <a:off x="6002536" y="6891012"/>
            <a:ext cx="776185" cy="145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Scalable design</a:t>
            </a:r>
            <a:endParaRPr lang="en-US" sz="76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8926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24588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83581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Regulatory Alignment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428625" y="771525"/>
            <a:ext cx="8358188" cy="188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FFFFFF">
                    <a:alpha val="9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Comprehensive compliance with international standards and local regulations</a:t>
            </a:r>
            <a:endParaRPr lang="en-US" sz="990" dirty="0"/>
          </a:p>
        </p:txBody>
      </p:sp>
      <p:sp>
        <p:nvSpPr>
          <p:cNvPr id="6" name="Shape 3"/>
          <p:cNvSpPr/>
          <p:nvPr/>
        </p:nvSpPr>
        <p:spPr>
          <a:xfrm>
            <a:off x="428625" y="1531637"/>
            <a:ext cx="2619356" cy="5375253"/>
          </a:xfrm>
          <a:prstGeom prst="rect">
            <a:avLst/>
          </a:prstGeom>
          <a:solidFill>
            <a:srgbClr val="FFFFFF"/>
          </a:solidFill>
          <a:ln w="397">
            <a:solidFill>
              <a:srgbClr val="3B82F6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6853" y="1833460"/>
            <a:ext cx="342900" cy="3429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2938" y="2403174"/>
            <a:ext cx="2262169" cy="2400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 27001:2022</a:t>
            </a:r>
            <a:endParaRPr lang="en-US" sz="1260" dirty="0"/>
          </a:p>
        </p:txBody>
      </p:sp>
      <p:sp>
        <p:nvSpPr>
          <p:cNvPr id="9" name="Text 5"/>
          <p:cNvSpPr/>
          <p:nvPr/>
        </p:nvSpPr>
        <p:spPr>
          <a:xfrm>
            <a:off x="642938" y="2750344"/>
            <a:ext cx="2262169" cy="723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5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Information Security Management System framework providing structured approach </a:t>
            </a:r>
            <a:endParaRPr lang="en-US" sz="855" dirty="0"/>
          </a:p>
          <a:p>
            <a:pPr marL="0" indent="0">
              <a:buNone/>
            </a:pPr>
            <a:r>
              <a:rPr lang="en-US" sz="85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          to managing sensitive information and ensuring business continuity.</a:t>
            </a:r>
            <a:endParaRPr lang="en-US" sz="855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8" y="3705206"/>
            <a:ext cx="91083" cy="9144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5458" y="3673785"/>
            <a:ext cx="1558286" cy="15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93 Annex A controls addressed</a:t>
            </a:r>
            <a:endParaRPr lang="en-US" sz="81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8" y="3980938"/>
            <a:ext cx="91083" cy="9144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05458" y="3949517"/>
            <a:ext cx="1397412" cy="15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4-theme control framework</a:t>
            </a:r>
            <a:endParaRPr lang="en-US" sz="81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8" y="4256670"/>
            <a:ext cx="91083" cy="9144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05458" y="4225249"/>
            <a:ext cx="1075051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Risk-based approach</a:t>
            </a:r>
            <a:endParaRPr lang="en-US" sz="81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938" y="4532402"/>
            <a:ext cx="91083" cy="91446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05458" y="4500981"/>
            <a:ext cx="1306581" cy="15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Continuous improvement</a:t>
            </a:r>
            <a:endParaRPr lang="en-US" sz="810" dirty="0"/>
          </a:p>
        </p:txBody>
      </p:sp>
      <p:sp>
        <p:nvSpPr>
          <p:cNvPr id="18" name="Shape 10"/>
          <p:cNvSpPr/>
          <p:nvPr/>
        </p:nvSpPr>
        <p:spPr>
          <a:xfrm>
            <a:off x="642938" y="4819576"/>
            <a:ext cx="2190731" cy="1477221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1"/>
          <p:cNvSpPr/>
          <p:nvPr/>
        </p:nvSpPr>
        <p:spPr>
          <a:xfrm>
            <a:off x="750094" y="4926732"/>
            <a:ext cx="2047856" cy="15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Control Coverage</a:t>
            </a:r>
            <a:endParaRPr lang="en-US" sz="810" dirty="0"/>
          </a:p>
        </p:txBody>
      </p:sp>
      <p:sp>
        <p:nvSpPr>
          <p:cNvPr id="20" name="Shape 12"/>
          <p:cNvSpPr/>
          <p:nvPr/>
        </p:nvSpPr>
        <p:spPr>
          <a:xfrm>
            <a:off x="750094" y="5152458"/>
            <a:ext cx="952491" cy="4828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3"/>
          <p:cNvSpPr/>
          <p:nvPr/>
        </p:nvSpPr>
        <p:spPr>
          <a:xfrm>
            <a:off x="821531" y="5223895"/>
            <a:ext cx="88105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37</a:t>
            </a:r>
            <a:endParaRPr lang="en-US" sz="1080" dirty="0"/>
          </a:p>
        </p:txBody>
      </p:sp>
      <p:sp>
        <p:nvSpPr>
          <p:cNvPr id="22" name="Text 14"/>
          <p:cNvSpPr/>
          <p:nvPr/>
        </p:nvSpPr>
        <p:spPr>
          <a:xfrm>
            <a:off x="821531" y="5443900"/>
            <a:ext cx="881053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3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Organizational</a:t>
            </a:r>
            <a:endParaRPr lang="en-US" sz="630" dirty="0"/>
          </a:p>
        </p:txBody>
      </p:sp>
      <p:sp>
        <p:nvSpPr>
          <p:cNvPr id="23" name="Shape 15"/>
          <p:cNvSpPr/>
          <p:nvPr/>
        </p:nvSpPr>
        <p:spPr>
          <a:xfrm>
            <a:off x="1774022" y="5152458"/>
            <a:ext cx="952491" cy="4828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16"/>
          <p:cNvSpPr/>
          <p:nvPr/>
        </p:nvSpPr>
        <p:spPr>
          <a:xfrm>
            <a:off x="1845459" y="5223895"/>
            <a:ext cx="88105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</a:t>
            </a:r>
            <a:endParaRPr lang="en-US" sz="1080" dirty="0"/>
          </a:p>
        </p:txBody>
      </p:sp>
      <p:sp>
        <p:nvSpPr>
          <p:cNvPr id="25" name="Text 17"/>
          <p:cNvSpPr/>
          <p:nvPr/>
        </p:nvSpPr>
        <p:spPr>
          <a:xfrm>
            <a:off x="1845459" y="5443900"/>
            <a:ext cx="881053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3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People</a:t>
            </a:r>
            <a:endParaRPr lang="en-US" sz="630" dirty="0"/>
          </a:p>
        </p:txBody>
      </p:sp>
      <p:sp>
        <p:nvSpPr>
          <p:cNvPr id="26" name="Shape 18"/>
          <p:cNvSpPr/>
          <p:nvPr/>
        </p:nvSpPr>
        <p:spPr>
          <a:xfrm>
            <a:off x="750094" y="5706768"/>
            <a:ext cx="952491" cy="4828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19"/>
          <p:cNvSpPr/>
          <p:nvPr/>
        </p:nvSpPr>
        <p:spPr>
          <a:xfrm>
            <a:off x="821531" y="5778205"/>
            <a:ext cx="88105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</a:t>
            </a:r>
            <a:endParaRPr lang="en-US" sz="1080" dirty="0"/>
          </a:p>
        </p:txBody>
      </p:sp>
      <p:sp>
        <p:nvSpPr>
          <p:cNvPr id="28" name="Text 20"/>
          <p:cNvSpPr/>
          <p:nvPr/>
        </p:nvSpPr>
        <p:spPr>
          <a:xfrm>
            <a:off x="821531" y="5998211"/>
            <a:ext cx="881053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3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Physical</a:t>
            </a:r>
            <a:endParaRPr lang="en-US" sz="630" dirty="0"/>
          </a:p>
        </p:txBody>
      </p:sp>
      <p:sp>
        <p:nvSpPr>
          <p:cNvPr id="29" name="Shape 21"/>
          <p:cNvSpPr/>
          <p:nvPr/>
        </p:nvSpPr>
        <p:spPr>
          <a:xfrm>
            <a:off x="1774022" y="5706768"/>
            <a:ext cx="952491" cy="4828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2"/>
          <p:cNvSpPr/>
          <p:nvPr/>
        </p:nvSpPr>
        <p:spPr>
          <a:xfrm>
            <a:off x="1845459" y="5778205"/>
            <a:ext cx="88105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34</a:t>
            </a:r>
            <a:endParaRPr lang="en-US" sz="1080" dirty="0"/>
          </a:p>
        </p:txBody>
      </p:sp>
      <p:sp>
        <p:nvSpPr>
          <p:cNvPr id="31" name="Text 23"/>
          <p:cNvSpPr/>
          <p:nvPr/>
        </p:nvSpPr>
        <p:spPr>
          <a:xfrm>
            <a:off x="1845459" y="5998211"/>
            <a:ext cx="881053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3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Technological</a:t>
            </a:r>
            <a:endParaRPr lang="en-US" sz="630" dirty="0"/>
          </a:p>
        </p:txBody>
      </p:sp>
      <p:sp>
        <p:nvSpPr>
          <p:cNvPr id="32" name="Shape 24"/>
          <p:cNvSpPr/>
          <p:nvPr/>
        </p:nvSpPr>
        <p:spPr>
          <a:xfrm>
            <a:off x="642938" y="6403953"/>
            <a:ext cx="2190731" cy="288624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33" name="Text 25"/>
          <p:cNvSpPr/>
          <p:nvPr/>
        </p:nvSpPr>
        <p:spPr>
          <a:xfrm>
            <a:off x="642938" y="6403953"/>
            <a:ext cx="2262169" cy="288624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ctr">
            <a:spAutoFit/>
          </a:bodyPr>
          <a:lstStyle/>
          <a:p>
            <a:pPr marL="0" indent="0" algn="ctr">
              <a:buNone/>
            </a:pPr>
            <a:r>
              <a:rPr lang="en-US" sz="76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Full Framework Implementation</a:t>
            </a:r>
            <a:endParaRPr lang="en-US" sz="765" dirty="0"/>
          </a:p>
        </p:txBody>
      </p:sp>
      <p:sp>
        <p:nvSpPr>
          <p:cNvPr id="34" name="Shape 26"/>
          <p:cNvSpPr/>
          <p:nvPr/>
        </p:nvSpPr>
        <p:spPr>
          <a:xfrm>
            <a:off x="3262294" y="1531637"/>
            <a:ext cx="2619384" cy="5375253"/>
          </a:xfrm>
          <a:prstGeom prst="rect">
            <a:avLst/>
          </a:prstGeom>
          <a:solidFill>
            <a:srgbClr val="FFFFFF"/>
          </a:solidFill>
          <a:ln w="397">
            <a:solidFill>
              <a:srgbClr val="3B82F6"/>
            </a:solidFill>
            <a:prstDash val="solid"/>
          </a:ln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00522" y="1833460"/>
            <a:ext cx="342900" cy="34290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3476606" y="2403174"/>
            <a:ext cx="2262197" cy="2400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 27005:2022</a:t>
            </a:r>
            <a:endParaRPr lang="en-US" sz="1260" dirty="0"/>
          </a:p>
        </p:txBody>
      </p:sp>
      <p:sp>
        <p:nvSpPr>
          <p:cNvPr id="37" name="Text 28"/>
          <p:cNvSpPr/>
          <p:nvPr/>
        </p:nvSpPr>
        <p:spPr>
          <a:xfrm>
            <a:off x="3476606" y="2750344"/>
            <a:ext cx="2262197" cy="723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5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Information security risk management guidelines providing systematic approach </a:t>
            </a:r>
            <a:endParaRPr lang="en-US" sz="855" dirty="0"/>
          </a:p>
          <a:p>
            <a:pPr marL="0" indent="0">
              <a:buNone/>
            </a:pPr>
            <a:r>
              <a:rPr lang="en-US" sz="85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          to identifying, assessing, and treating information security risks.</a:t>
            </a:r>
            <a:endParaRPr lang="en-US" sz="855" dirty="0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6606" y="3705206"/>
            <a:ext cx="91083" cy="91446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3639127" y="3673785"/>
            <a:ext cx="1159799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Context establishment</a:t>
            </a:r>
            <a:endParaRPr lang="en-US" sz="810" dirty="0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76606" y="3980938"/>
            <a:ext cx="91083" cy="91446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3639127" y="3949517"/>
            <a:ext cx="1534427" cy="15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Risk assessment methodology</a:t>
            </a:r>
            <a:endParaRPr lang="en-US" sz="810" dirty="0"/>
          </a:p>
        </p:txBody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6606" y="4256670"/>
            <a:ext cx="91083" cy="91446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3639127" y="4225249"/>
            <a:ext cx="1075134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Treatment strategies</a:t>
            </a:r>
            <a:endParaRPr lang="en-US" sz="810" dirty="0"/>
          </a:p>
        </p:txBody>
      </p:sp>
      <p:pic>
        <p:nvPicPr>
          <p:cNvPr id="44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76606" y="4532402"/>
            <a:ext cx="91083" cy="91446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3639127" y="4500981"/>
            <a:ext cx="1053033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Monitoring &amp; review</a:t>
            </a:r>
            <a:endParaRPr lang="en-US" sz="810" dirty="0"/>
          </a:p>
        </p:txBody>
      </p:sp>
      <p:sp>
        <p:nvSpPr>
          <p:cNvPr id="46" name="Shape 33"/>
          <p:cNvSpPr/>
          <p:nvPr/>
        </p:nvSpPr>
        <p:spPr>
          <a:xfrm>
            <a:off x="3476606" y="4819576"/>
            <a:ext cx="2190759" cy="1477221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7" name="Text 34"/>
          <p:cNvSpPr/>
          <p:nvPr/>
        </p:nvSpPr>
        <p:spPr>
          <a:xfrm>
            <a:off x="3583763" y="4926732"/>
            <a:ext cx="2047884" cy="15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Risk Management</a:t>
            </a:r>
            <a:endParaRPr lang="en-US" sz="810" dirty="0"/>
          </a:p>
        </p:txBody>
      </p:sp>
      <p:sp>
        <p:nvSpPr>
          <p:cNvPr id="48" name="Shape 35"/>
          <p:cNvSpPr/>
          <p:nvPr/>
        </p:nvSpPr>
        <p:spPr>
          <a:xfrm>
            <a:off x="3583763" y="5152458"/>
            <a:ext cx="952491" cy="4828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36"/>
          <p:cNvSpPr/>
          <p:nvPr/>
        </p:nvSpPr>
        <p:spPr>
          <a:xfrm>
            <a:off x="3655200" y="5223895"/>
            <a:ext cx="88105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</a:t>
            </a:r>
            <a:endParaRPr lang="en-US" sz="1080" dirty="0"/>
          </a:p>
        </p:txBody>
      </p:sp>
      <p:sp>
        <p:nvSpPr>
          <p:cNvPr id="50" name="Text 37"/>
          <p:cNvSpPr/>
          <p:nvPr/>
        </p:nvSpPr>
        <p:spPr>
          <a:xfrm>
            <a:off x="3655200" y="5443900"/>
            <a:ext cx="881053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3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Risks Identified</a:t>
            </a:r>
            <a:endParaRPr lang="en-US" sz="630" dirty="0"/>
          </a:p>
        </p:txBody>
      </p:sp>
      <p:sp>
        <p:nvSpPr>
          <p:cNvPr id="51" name="Shape 38"/>
          <p:cNvSpPr/>
          <p:nvPr/>
        </p:nvSpPr>
        <p:spPr>
          <a:xfrm>
            <a:off x="4607691" y="5152458"/>
            <a:ext cx="952519" cy="4828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39"/>
          <p:cNvSpPr/>
          <p:nvPr/>
        </p:nvSpPr>
        <p:spPr>
          <a:xfrm>
            <a:off x="4679128" y="5223895"/>
            <a:ext cx="88108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080" dirty="0"/>
          </a:p>
        </p:txBody>
      </p:sp>
      <p:sp>
        <p:nvSpPr>
          <p:cNvPr id="53" name="Text 40"/>
          <p:cNvSpPr/>
          <p:nvPr/>
        </p:nvSpPr>
        <p:spPr>
          <a:xfrm>
            <a:off x="4679128" y="5443900"/>
            <a:ext cx="881081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3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Critical Risks</a:t>
            </a:r>
            <a:endParaRPr lang="en-US" sz="630" dirty="0"/>
          </a:p>
        </p:txBody>
      </p:sp>
      <p:sp>
        <p:nvSpPr>
          <p:cNvPr id="54" name="Shape 41"/>
          <p:cNvSpPr/>
          <p:nvPr/>
        </p:nvSpPr>
        <p:spPr>
          <a:xfrm>
            <a:off x="3583763" y="5706768"/>
            <a:ext cx="952491" cy="4828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42"/>
          <p:cNvSpPr/>
          <p:nvPr/>
        </p:nvSpPr>
        <p:spPr>
          <a:xfrm>
            <a:off x="3655200" y="5778205"/>
            <a:ext cx="88105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100%</a:t>
            </a:r>
            <a:endParaRPr lang="en-US" sz="1080" dirty="0"/>
          </a:p>
        </p:txBody>
      </p:sp>
      <p:sp>
        <p:nvSpPr>
          <p:cNvPr id="56" name="Text 43"/>
          <p:cNvSpPr/>
          <p:nvPr/>
        </p:nvSpPr>
        <p:spPr>
          <a:xfrm>
            <a:off x="3655200" y="5998211"/>
            <a:ext cx="881053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3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Treated</a:t>
            </a:r>
            <a:endParaRPr lang="en-US" sz="630" dirty="0"/>
          </a:p>
        </p:txBody>
      </p:sp>
      <p:sp>
        <p:nvSpPr>
          <p:cNvPr id="57" name="Shape 44"/>
          <p:cNvSpPr/>
          <p:nvPr/>
        </p:nvSpPr>
        <p:spPr>
          <a:xfrm>
            <a:off x="4607691" y="5706768"/>
            <a:ext cx="952519" cy="4828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45"/>
          <p:cNvSpPr/>
          <p:nvPr/>
        </p:nvSpPr>
        <p:spPr>
          <a:xfrm>
            <a:off x="4679128" y="5778205"/>
            <a:ext cx="88108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</a:t>
            </a:r>
            <a:endParaRPr lang="en-US" sz="1080" dirty="0"/>
          </a:p>
        </p:txBody>
      </p:sp>
      <p:sp>
        <p:nvSpPr>
          <p:cNvPr id="59" name="Text 46"/>
          <p:cNvSpPr/>
          <p:nvPr/>
        </p:nvSpPr>
        <p:spPr>
          <a:xfrm>
            <a:off x="4679128" y="5998211"/>
            <a:ext cx="881081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3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Low Residual</a:t>
            </a:r>
            <a:endParaRPr lang="en-US" sz="630" dirty="0"/>
          </a:p>
        </p:txBody>
      </p:sp>
      <p:sp>
        <p:nvSpPr>
          <p:cNvPr id="60" name="Shape 47"/>
          <p:cNvSpPr/>
          <p:nvPr/>
        </p:nvSpPr>
        <p:spPr>
          <a:xfrm>
            <a:off x="3476606" y="6403953"/>
            <a:ext cx="2190759" cy="288624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61" name="Text 48"/>
          <p:cNvSpPr/>
          <p:nvPr/>
        </p:nvSpPr>
        <p:spPr>
          <a:xfrm>
            <a:off x="3476606" y="6403953"/>
            <a:ext cx="2262197" cy="288624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ctr">
            <a:spAutoFit/>
          </a:bodyPr>
          <a:lstStyle/>
          <a:p>
            <a:pPr marL="0" indent="0" algn="ctr">
              <a:buNone/>
            </a:pPr>
            <a:r>
              <a:rPr lang="en-US" sz="76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Structured Risk Management</a:t>
            </a:r>
            <a:endParaRPr lang="en-US" sz="765" dirty="0"/>
          </a:p>
        </p:txBody>
      </p:sp>
      <p:sp>
        <p:nvSpPr>
          <p:cNvPr id="62" name="Shape 49"/>
          <p:cNvSpPr/>
          <p:nvPr/>
        </p:nvSpPr>
        <p:spPr>
          <a:xfrm>
            <a:off x="6095991" y="1531637"/>
            <a:ext cx="2619356" cy="5375253"/>
          </a:xfrm>
          <a:prstGeom prst="rect">
            <a:avLst/>
          </a:prstGeom>
          <a:solidFill>
            <a:srgbClr val="FFFFFF"/>
          </a:solidFill>
          <a:ln w="397">
            <a:solidFill>
              <a:srgbClr val="3B82F6"/>
            </a:solidFill>
            <a:prstDash val="solid"/>
          </a:ln>
        </p:spPr>
      </p:sp>
      <p:pic>
        <p:nvPicPr>
          <p:cNvPr id="6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34219" y="1833460"/>
            <a:ext cx="342900" cy="342900"/>
          </a:xfrm>
          <a:prstGeom prst="rect">
            <a:avLst/>
          </a:prstGeom>
        </p:spPr>
      </p:pic>
      <p:sp>
        <p:nvSpPr>
          <p:cNvPr id="64" name="Text 50"/>
          <p:cNvSpPr/>
          <p:nvPr/>
        </p:nvSpPr>
        <p:spPr>
          <a:xfrm>
            <a:off x="6310303" y="2403174"/>
            <a:ext cx="2262169" cy="2400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POPIA</a:t>
            </a:r>
            <a:endParaRPr lang="en-US" sz="1260" dirty="0"/>
          </a:p>
        </p:txBody>
      </p:sp>
      <p:sp>
        <p:nvSpPr>
          <p:cNvPr id="65" name="Text 51"/>
          <p:cNvSpPr/>
          <p:nvPr/>
        </p:nvSpPr>
        <p:spPr>
          <a:xfrm>
            <a:off x="6310303" y="2750344"/>
            <a:ext cx="2262169" cy="6948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5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South Africa's Protection of Personal Information Act ensuring lawful processing </a:t>
            </a:r>
            <a:endParaRPr lang="en-US" sz="855" dirty="0"/>
          </a:p>
          <a:p>
            <a:pPr marL="0" indent="0">
              <a:buNone/>
            </a:pPr>
            <a:r>
              <a:rPr lang="en-US" sz="85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          of personal information and protecting individual privacy rights.</a:t>
            </a:r>
            <a:endParaRPr lang="en-US" sz="855" dirty="0"/>
          </a:p>
        </p:txBody>
      </p:sp>
      <p:pic>
        <p:nvPicPr>
          <p:cNvPr id="66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10303" y="3676631"/>
            <a:ext cx="91083" cy="91446"/>
          </a:xfrm>
          <a:prstGeom prst="rect">
            <a:avLst/>
          </a:prstGeom>
        </p:spPr>
      </p:pic>
      <p:sp>
        <p:nvSpPr>
          <p:cNvPr id="67" name="Text 52"/>
          <p:cNvSpPr/>
          <p:nvPr/>
        </p:nvSpPr>
        <p:spPr>
          <a:xfrm>
            <a:off x="6472824" y="3645210"/>
            <a:ext cx="1212679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processing conditions</a:t>
            </a:r>
            <a:endParaRPr lang="en-US" sz="810" dirty="0"/>
          </a:p>
        </p:txBody>
      </p:sp>
      <p:pic>
        <p:nvPicPr>
          <p:cNvPr id="68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10303" y="3952363"/>
            <a:ext cx="91083" cy="91446"/>
          </a:xfrm>
          <a:prstGeom prst="rect">
            <a:avLst/>
          </a:prstGeom>
        </p:spPr>
      </p:pic>
      <p:sp>
        <p:nvSpPr>
          <p:cNvPr id="69" name="Text 53"/>
          <p:cNvSpPr/>
          <p:nvPr/>
        </p:nvSpPr>
        <p:spPr>
          <a:xfrm>
            <a:off x="6472824" y="3920942"/>
            <a:ext cx="981959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subject rights</a:t>
            </a:r>
            <a:endParaRPr lang="en-US" sz="810" dirty="0"/>
          </a:p>
        </p:txBody>
      </p:sp>
      <p:pic>
        <p:nvPicPr>
          <p:cNvPr id="70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10303" y="4228095"/>
            <a:ext cx="91083" cy="91446"/>
          </a:xfrm>
          <a:prstGeom prst="rect">
            <a:avLst/>
          </a:prstGeom>
        </p:spPr>
      </p:pic>
      <p:sp>
        <p:nvSpPr>
          <p:cNvPr id="71" name="Text 54"/>
          <p:cNvSpPr/>
          <p:nvPr/>
        </p:nvSpPr>
        <p:spPr>
          <a:xfrm>
            <a:off x="6472824" y="4196674"/>
            <a:ext cx="1221525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Information Officer role</a:t>
            </a:r>
            <a:endParaRPr lang="en-US" sz="810" dirty="0"/>
          </a:p>
        </p:txBody>
      </p:sp>
      <p:pic>
        <p:nvPicPr>
          <p:cNvPr id="72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10303" y="4503827"/>
            <a:ext cx="91083" cy="91446"/>
          </a:xfrm>
          <a:prstGeom prst="rect">
            <a:avLst/>
          </a:prstGeom>
        </p:spPr>
      </p:pic>
      <p:sp>
        <p:nvSpPr>
          <p:cNvPr id="73" name="Text 55"/>
          <p:cNvSpPr/>
          <p:nvPr/>
        </p:nvSpPr>
        <p:spPr>
          <a:xfrm>
            <a:off x="6472824" y="4472406"/>
            <a:ext cx="1022086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Security safeguards</a:t>
            </a:r>
            <a:endParaRPr lang="en-US" sz="810" dirty="0"/>
          </a:p>
        </p:txBody>
      </p:sp>
      <p:sp>
        <p:nvSpPr>
          <p:cNvPr id="74" name="Shape 56"/>
          <p:cNvSpPr/>
          <p:nvPr/>
        </p:nvSpPr>
        <p:spPr>
          <a:xfrm>
            <a:off x="6310303" y="4791001"/>
            <a:ext cx="2190731" cy="1477221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5" name="Text 57"/>
          <p:cNvSpPr/>
          <p:nvPr/>
        </p:nvSpPr>
        <p:spPr>
          <a:xfrm>
            <a:off x="6417459" y="4898157"/>
            <a:ext cx="2047856" cy="15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POPIA Conditions</a:t>
            </a:r>
            <a:endParaRPr lang="en-US" sz="810" dirty="0"/>
          </a:p>
        </p:txBody>
      </p:sp>
      <p:sp>
        <p:nvSpPr>
          <p:cNvPr id="76" name="Shape 58"/>
          <p:cNvSpPr/>
          <p:nvPr/>
        </p:nvSpPr>
        <p:spPr>
          <a:xfrm>
            <a:off x="6417459" y="5123883"/>
            <a:ext cx="952491" cy="4828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7" name="Text 59"/>
          <p:cNvSpPr/>
          <p:nvPr/>
        </p:nvSpPr>
        <p:spPr>
          <a:xfrm>
            <a:off x="6488897" y="5195320"/>
            <a:ext cx="88105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</a:t>
            </a:r>
            <a:endParaRPr lang="en-US" sz="1080" dirty="0"/>
          </a:p>
        </p:txBody>
      </p:sp>
      <p:sp>
        <p:nvSpPr>
          <p:cNvPr id="78" name="Text 60"/>
          <p:cNvSpPr/>
          <p:nvPr/>
        </p:nvSpPr>
        <p:spPr>
          <a:xfrm>
            <a:off x="6488897" y="5415325"/>
            <a:ext cx="881053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3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Conditions</a:t>
            </a:r>
            <a:endParaRPr lang="en-US" sz="630" dirty="0"/>
          </a:p>
        </p:txBody>
      </p:sp>
      <p:sp>
        <p:nvSpPr>
          <p:cNvPr id="79" name="Shape 61"/>
          <p:cNvSpPr/>
          <p:nvPr/>
        </p:nvSpPr>
        <p:spPr>
          <a:xfrm>
            <a:off x="7441388" y="5123883"/>
            <a:ext cx="952491" cy="4828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0" name="Text 62"/>
          <p:cNvSpPr/>
          <p:nvPr/>
        </p:nvSpPr>
        <p:spPr>
          <a:xfrm>
            <a:off x="7512825" y="5195320"/>
            <a:ext cx="88105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100%</a:t>
            </a:r>
            <a:endParaRPr lang="en-US" sz="1080" dirty="0"/>
          </a:p>
        </p:txBody>
      </p:sp>
      <p:sp>
        <p:nvSpPr>
          <p:cNvPr id="81" name="Text 63"/>
          <p:cNvSpPr/>
          <p:nvPr/>
        </p:nvSpPr>
        <p:spPr>
          <a:xfrm>
            <a:off x="7512825" y="5415325"/>
            <a:ext cx="881053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3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Addressed</a:t>
            </a:r>
            <a:endParaRPr lang="en-US" sz="630" dirty="0"/>
          </a:p>
        </p:txBody>
      </p:sp>
      <p:sp>
        <p:nvSpPr>
          <p:cNvPr id="82" name="Shape 64"/>
          <p:cNvSpPr/>
          <p:nvPr/>
        </p:nvSpPr>
        <p:spPr>
          <a:xfrm>
            <a:off x="6417459" y="5678193"/>
            <a:ext cx="952491" cy="4828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3" name="Text 65"/>
          <p:cNvSpPr/>
          <p:nvPr/>
        </p:nvSpPr>
        <p:spPr>
          <a:xfrm>
            <a:off x="6488897" y="5749630"/>
            <a:ext cx="88105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080" dirty="0"/>
          </a:p>
        </p:txBody>
      </p:sp>
      <p:sp>
        <p:nvSpPr>
          <p:cNvPr id="84" name="Text 66"/>
          <p:cNvSpPr/>
          <p:nvPr/>
        </p:nvSpPr>
        <p:spPr>
          <a:xfrm>
            <a:off x="6488897" y="5969636"/>
            <a:ext cx="881053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3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Policies</a:t>
            </a:r>
            <a:endParaRPr lang="en-US" sz="630" dirty="0"/>
          </a:p>
        </p:txBody>
      </p:sp>
      <p:sp>
        <p:nvSpPr>
          <p:cNvPr id="85" name="Shape 67"/>
          <p:cNvSpPr/>
          <p:nvPr/>
        </p:nvSpPr>
        <p:spPr>
          <a:xfrm>
            <a:off x="7441388" y="5678193"/>
            <a:ext cx="952491" cy="4828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6" name="Text 68"/>
          <p:cNvSpPr/>
          <p:nvPr/>
        </p:nvSpPr>
        <p:spPr>
          <a:xfrm>
            <a:off x="7512825" y="5749630"/>
            <a:ext cx="88105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080" dirty="0"/>
          </a:p>
        </p:txBody>
      </p:sp>
      <p:sp>
        <p:nvSpPr>
          <p:cNvPr id="87" name="Text 69"/>
          <p:cNvSpPr/>
          <p:nvPr/>
        </p:nvSpPr>
        <p:spPr>
          <a:xfrm>
            <a:off x="7512825" y="5969636"/>
            <a:ext cx="881053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3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Info Officer</a:t>
            </a:r>
            <a:endParaRPr lang="en-US" sz="630" dirty="0"/>
          </a:p>
        </p:txBody>
      </p:sp>
      <p:sp>
        <p:nvSpPr>
          <p:cNvPr id="88" name="Shape 70"/>
          <p:cNvSpPr/>
          <p:nvPr/>
        </p:nvSpPr>
        <p:spPr>
          <a:xfrm>
            <a:off x="6310303" y="6375378"/>
            <a:ext cx="2190731" cy="288624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89" name="Text 71"/>
          <p:cNvSpPr/>
          <p:nvPr/>
        </p:nvSpPr>
        <p:spPr>
          <a:xfrm>
            <a:off x="6310303" y="6375378"/>
            <a:ext cx="2262169" cy="288624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ctr">
            <a:spAutoFit/>
          </a:bodyPr>
          <a:lstStyle/>
          <a:p>
            <a:pPr marL="0" indent="0" algn="ctr">
              <a:buNone/>
            </a:pPr>
            <a:r>
              <a:rPr lang="en-US" sz="76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Full POPIA Compliance</a:t>
            </a:r>
            <a:endParaRPr lang="en-US" sz="765" dirty="0"/>
          </a:p>
        </p:txBody>
      </p:sp>
      <p:sp>
        <p:nvSpPr>
          <p:cNvPr id="90" name="Shape 72"/>
          <p:cNvSpPr/>
          <p:nvPr/>
        </p:nvSpPr>
        <p:spPr>
          <a:xfrm>
            <a:off x="428625" y="5317824"/>
            <a:ext cx="8286750" cy="882951"/>
          </a:xfrm>
          <a:prstGeom prst="rect">
            <a:avLst/>
          </a:prstGeom>
          <a:solidFill>
            <a:srgbClr val="F8FAFC"/>
          </a:solidFill>
          <a:ln w="198">
            <a:solidFill>
              <a:srgbClr val="CBD5E1"/>
            </a:solidFill>
            <a:prstDash val="dash"/>
          </a:ln>
        </p:spPr>
      </p:sp>
      <p:pic>
        <p:nvPicPr>
          <p:cNvPr id="91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387170" y="5492121"/>
            <a:ext cx="157163" cy="125741"/>
          </a:xfrm>
          <a:prstGeom prst="rect">
            <a:avLst/>
          </a:prstGeom>
        </p:spPr>
      </p:pic>
      <p:sp>
        <p:nvSpPr>
          <p:cNvPr id="92" name="Text 73"/>
          <p:cNvSpPr/>
          <p:nvPr/>
        </p:nvSpPr>
        <p:spPr>
          <a:xfrm>
            <a:off x="3615770" y="5460699"/>
            <a:ext cx="2212470" cy="188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Integrated Compliance Framework</a:t>
            </a:r>
            <a:endParaRPr lang="en-US" sz="990" dirty="0"/>
          </a:p>
        </p:txBody>
      </p:sp>
      <p:sp>
        <p:nvSpPr>
          <p:cNvPr id="93" name="Text 74"/>
          <p:cNvSpPr/>
          <p:nvPr/>
        </p:nvSpPr>
        <p:spPr>
          <a:xfrm>
            <a:off x="571500" y="5720748"/>
            <a:ext cx="8072438" cy="3085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All portfolio components work together to create a comprehensive GRC framework that simultaneously </a:t>
            </a:r>
            <a:endParaRPr lang="en-US" sz="810" dirty="0"/>
          </a:p>
          <a:p>
            <a:pPr marL="0" indent="0" algn="ctr">
              <a:buNone/>
            </a:pPr>
            <a:r>
              <a:rPr lang="en-US" sz="81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addresses international standards (ISO 27001/27005) and local South African regulations (POPIA), </a:t>
            </a:r>
            <a:endParaRPr lang="en-US" sz="810" dirty="0"/>
          </a:p>
          <a:p>
            <a:pPr marL="0" indent="0" algn="ctr">
              <a:buNone/>
            </a:pPr>
            <a:r>
              <a:rPr lang="en-US" sz="81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ensuring robust governance, effective risk management, and regulatory compliance.</a:t>
            </a:r>
            <a:endParaRPr lang="en-US" sz="81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8926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24588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83581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Achievements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428625" y="771525"/>
            <a:ext cx="8358188" cy="188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FFFFFF">
                    <a:alpha val="9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Demonstrating comprehensive GRC expertise for FinTech sector</a:t>
            </a:r>
            <a:endParaRPr lang="en-US" sz="990" dirty="0"/>
          </a:p>
        </p:txBody>
      </p:sp>
      <p:sp>
        <p:nvSpPr>
          <p:cNvPr id="6" name="Shape 3"/>
          <p:cNvSpPr/>
          <p:nvPr/>
        </p:nvSpPr>
        <p:spPr>
          <a:xfrm>
            <a:off x="428625" y="1531637"/>
            <a:ext cx="3786188" cy="15472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1531637"/>
            <a:ext cx="28575" cy="1547264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19" y="1769166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7219" y="2160287"/>
            <a:ext cx="3500438" cy="2057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Risk Assessment</a:t>
            </a:r>
            <a:endParaRPr lang="en-US" sz="1080" dirty="0"/>
          </a:p>
        </p:txBody>
      </p:sp>
      <p:sp>
        <p:nvSpPr>
          <p:cNvPr id="10" name="Text 6"/>
          <p:cNvSpPr/>
          <p:nvPr/>
        </p:nvSpPr>
        <p:spPr>
          <a:xfrm>
            <a:off x="607219" y="2419576"/>
            <a:ext cx="3500438" cy="4985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Successfully applied ISO 27005 methodology to identify, assess, and treat 7 critical 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information security risks specific to the FinTech sector, with all risks reduced to acceptable levels through targeted mitigation strategies.</a:t>
            </a:r>
            <a:endParaRPr lang="en-US" sz="810" dirty="0"/>
          </a:p>
        </p:txBody>
      </p:sp>
      <p:sp>
        <p:nvSpPr>
          <p:cNvPr id="11" name="Shape 7"/>
          <p:cNvSpPr/>
          <p:nvPr/>
        </p:nvSpPr>
        <p:spPr>
          <a:xfrm>
            <a:off x="428625" y="3221775"/>
            <a:ext cx="3786188" cy="17015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8"/>
          <p:cNvSpPr/>
          <p:nvPr/>
        </p:nvSpPr>
        <p:spPr>
          <a:xfrm>
            <a:off x="428625" y="3221775"/>
            <a:ext cx="28575" cy="1701552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219" y="3459305"/>
            <a:ext cx="28575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07219" y="3850425"/>
            <a:ext cx="3500438" cy="2057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Regulatory Alignment</a:t>
            </a:r>
            <a:endParaRPr lang="en-US" sz="1080" dirty="0"/>
          </a:p>
        </p:txBody>
      </p:sp>
      <p:sp>
        <p:nvSpPr>
          <p:cNvPr id="15" name="Text 10"/>
          <p:cNvSpPr/>
          <p:nvPr/>
        </p:nvSpPr>
        <p:spPr>
          <a:xfrm>
            <a:off x="607219" y="4109715"/>
            <a:ext cx="3500438" cy="4985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Developed comprehensive policies that simultaneously address ISO 27001 requirements and POPIA compliance, demonstrating deep understanding of both international standards 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South African regulatory landscape.</a:t>
            </a:r>
            <a:endParaRPr lang="en-US" sz="810" dirty="0"/>
          </a:p>
        </p:txBody>
      </p:sp>
      <p:sp>
        <p:nvSpPr>
          <p:cNvPr id="16" name="Shape 11"/>
          <p:cNvSpPr/>
          <p:nvPr/>
        </p:nvSpPr>
        <p:spPr>
          <a:xfrm>
            <a:off x="428625" y="4911914"/>
            <a:ext cx="3786188" cy="15472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2"/>
          <p:cNvSpPr/>
          <p:nvPr/>
        </p:nvSpPr>
        <p:spPr>
          <a:xfrm>
            <a:off x="428625" y="4911914"/>
            <a:ext cx="28575" cy="1547264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219" y="5149444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07219" y="5540564"/>
            <a:ext cx="3500438" cy="2057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Practical Implementation</a:t>
            </a:r>
            <a:endParaRPr lang="en-US" sz="1080" dirty="0"/>
          </a:p>
        </p:txBody>
      </p:sp>
      <p:sp>
        <p:nvSpPr>
          <p:cNvPr id="20" name="Text 14"/>
          <p:cNvSpPr/>
          <p:nvPr/>
        </p:nvSpPr>
        <p:spPr>
          <a:xfrm>
            <a:off x="607219" y="5799853"/>
            <a:ext cx="3500438" cy="4985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Created actionable documents and tools that can be immediately implemented by organizations, including automated dashboard prototype for real-time GRC monitoring 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stakeholder reporting.</a:t>
            </a:r>
            <a:endParaRPr lang="en-US" sz="810" dirty="0"/>
          </a:p>
        </p:txBody>
      </p:sp>
      <p:sp>
        <p:nvSpPr>
          <p:cNvPr id="21" name="Shape 15"/>
          <p:cNvSpPr/>
          <p:nvPr/>
        </p:nvSpPr>
        <p:spPr>
          <a:xfrm>
            <a:off x="4500563" y="1531637"/>
            <a:ext cx="4214813" cy="357187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0666" y="1785938"/>
            <a:ext cx="160734" cy="16000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092837" y="1745949"/>
            <a:ext cx="1333872" cy="2400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Portfolio Metrics</a:t>
            </a:r>
            <a:endParaRPr lang="en-US" sz="1260" dirty="0"/>
          </a:p>
        </p:txBody>
      </p:sp>
      <p:sp>
        <p:nvSpPr>
          <p:cNvPr id="24" name="Shape 17"/>
          <p:cNvSpPr/>
          <p:nvPr/>
        </p:nvSpPr>
        <p:spPr>
          <a:xfrm>
            <a:off x="4714875" y="2164556"/>
            <a:ext cx="1821656" cy="918670"/>
          </a:xfrm>
          <a:prstGeom prst="rect">
            <a:avLst/>
          </a:prstGeom>
          <a:solidFill>
            <a:srgbClr val="F8FAFC"/>
          </a:solidFill>
          <a:ln w="99">
            <a:solidFill>
              <a:srgbClr val="E2E8F0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4857750" y="2307431"/>
            <a:ext cx="160734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</a:t>
            </a:r>
            <a:endParaRPr lang="en-US" sz="2250" dirty="0"/>
          </a:p>
        </p:txBody>
      </p:sp>
      <p:sp>
        <p:nvSpPr>
          <p:cNvPr id="26" name="Text 19"/>
          <p:cNvSpPr/>
          <p:nvPr/>
        </p:nvSpPr>
        <p:spPr>
          <a:xfrm>
            <a:off x="4857750" y="2771775"/>
            <a:ext cx="1607344" cy="15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Risks Identified &amp; Treated</a:t>
            </a:r>
            <a:endParaRPr lang="en-US" sz="810" dirty="0"/>
          </a:p>
        </p:txBody>
      </p:sp>
      <p:sp>
        <p:nvSpPr>
          <p:cNvPr id="27" name="Shape 20"/>
          <p:cNvSpPr/>
          <p:nvPr/>
        </p:nvSpPr>
        <p:spPr>
          <a:xfrm>
            <a:off x="6679406" y="2164556"/>
            <a:ext cx="1821656" cy="918670"/>
          </a:xfrm>
          <a:prstGeom prst="rect">
            <a:avLst/>
          </a:prstGeom>
          <a:solidFill>
            <a:srgbClr val="F8FAFC"/>
          </a:solidFill>
          <a:ln w="99">
            <a:solidFill>
              <a:srgbClr val="E2E8F0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6822281" y="2307431"/>
            <a:ext cx="160734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2250" dirty="0"/>
          </a:p>
        </p:txBody>
      </p:sp>
      <p:sp>
        <p:nvSpPr>
          <p:cNvPr id="29" name="Text 22"/>
          <p:cNvSpPr/>
          <p:nvPr/>
        </p:nvSpPr>
        <p:spPr>
          <a:xfrm>
            <a:off x="6822281" y="2771775"/>
            <a:ext cx="1607344" cy="15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Comprehensive Policies</a:t>
            </a:r>
            <a:endParaRPr lang="en-US" sz="810" dirty="0"/>
          </a:p>
        </p:txBody>
      </p:sp>
      <p:sp>
        <p:nvSpPr>
          <p:cNvPr id="30" name="Shape 23"/>
          <p:cNvSpPr/>
          <p:nvPr/>
        </p:nvSpPr>
        <p:spPr>
          <a:xfrm>
            <a:off x="4714875" y="3211813"/>
            <a:ext cx="1821656" cy="918670"/>
          </a:xfrm>
          <a:prstGeom prst="rect">
            <a:avLst/>
          </a:prstGeom>
          <a:solidFill>
            <a:srgbClr val="F8FAFC"/>
          </a:solidFill>
          <a:ln w="99">
            <a:solidFill>
              <a:srgbClr val="E2E8F0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4857750" y="3354688"/>
            <a:ext cx="160734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93</a:t>
            </a:r>
            <a:endParaRPr lang="en-US" sz="2250" dirty="0"/>
          </a:p>
        </p:txBody>
      </p:sp>
      <p:sp>
        <p:nvSpPr>
          <p:cNvPr id="32" name="Text 25"/>
          <p:cNvSpPr/>
          <p:nvPr/>
        </p:nvSpPr>
        <p:spPr>
          <a:xfrm>
            <a:off x="4857750" y="3819032"/>
            <a:ext cx="1607344" cy="15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ISO 27001 Controls Addressed</a:t>
            </a:r>
            <a:endParaRPr lang="en-US" sz="810" dirty="0"/>
          </a:p>
        </p:txBody>
      </p:sp>
      <p:sp>
        <p:nvSpPr>
          <p:cNvPr id="33" name="Shape 26"/>
          <p:cNvSpPr/>
          <p:nvPr/>
        </p:nvSpPr>
        <p:spPr>
          <a:xfrm>
            <a:off x="6679406" y="3211813"/>
            <a:ext cx="1821656" cy="918670"/>
          </a:xfrm>
          <a:prstGeom prst="rect">
            <a:avLst/>
          </a:prstGeom>
          <a:solidFill>
            <a:srgbClr val="F8FAFC"/>
          </a:solidFill>
          <a:ln w="99">
            <a:solidFill>
              <a:srgbClr val="E2E8F0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6822281" y="3354688"/>
            <a:ext cx="160734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</a:t>
            </a:r>
            <a:endParaRPr lang="en-US" sz="2250" dirty="0"/>
          </a:p>
        </p:txBody>
      </p:sp>
      <p:sp>
        <p:nvSpPr>
          <p:cNvPr id="35" name="Text 28"/>
          <p:cNvSpPr/>
          <p:nvPr/>
        </p:nvSpPr>
        <p:spPr>
          <a:xfrm>
            <a:off x="6822281" y="3819032"/>
            <a:ext cx="1607344" cy="15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POPIA Conditions Covered</a:t>
            </a:r>
            <a:endParaRPr lang="en-US" sz="810" dirty="0"/>
          </a:p>
        </p:txBody>
      </p:sp>
      <p:sp>
        <p:nvSpPr>
          <p:cNvPr id="36" name="Shape 29"/>
          <p:cNvSpPr/>
          <p:nvPr/>
        </p:nvSpPr>
        <p:spPr>
          <a:xfrm>
            <a:off x="4714875" y="4294789"/>
            <a:ext cx="3786188" cy="2211605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0" y="4466239"/>
            <a:ext cx="85725" cy="11430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5000625" y="4437664"/>
            <a:ext cx="9886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Deliverables</a:t>
            </a:r>
            <a:endParaRPr lang="en-US" sz="900" dirty="0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0" y="4804842"/>
            <a:ext cx="67866" cy="91446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4997053" y="4773420"/>
            <a:ext cx="1712965" cy="15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Information Security Risk Register</a:t>
            </a:r>
            <a:endParaRPr lang="en-US" sz="810" dirty="0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7750" y="5080574"/>
            <a:ext cx="91083" cy="91446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020270" y="5049152"/>
            <a:ext cx="1372214" cy="15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Information Security Policy</a:t>
            </a:r>
            <a:endParaRPr lang="en-US" sz="810" dirty="0"/>
          </a:p>
        </p:txBody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57750" y="5356306"/>
            <a:ext cx="80367" cy="91446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5009555" y="5324884"/>
            <a:ext cx="1795258" cy="15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Retention &amp; Destruction Policy</a:t>
            </a:r>
            <a:endParaRPr lang="en-US" sz="810" dirty="0"/>
          </a:p>
        </p:txBody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57750" y="5632038"/>
            <a:ext cx="91083" cy="91446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5020270" y="5600616"/>
            <a:ext cx="1082446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Access Control Policy</a:t>
            </a:r>
            <a:endParaRPr lang="en-US" sz="810" dirty="0"/>
          </a:p>
        </p:txBody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57750" y="5907770"/>
            <a:ext cx="103584" cy="91446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5032772" y="5876348"/>
            <a:ext cx="1336411" cy="15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GRC Dashboard Prototype</a:t>
            </a:r>
            <a:endParaRPr lang="en-US" sz="810" dirty="0"/>
          </a:p>
        </p:txBody>
      </p:sp>
      <p:pic>
        <p:nvPicPr>
          <p:cNvPr id="49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57750" y="6183502"/>
            <a:ext cx="80367" cy="91446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5009555" y="6152080"/>
            <a:ext cx="1760600" cy="15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Complete Portfolio Documentation</a:t>
            </a:r>
            <a:endParaRPr lang="en-US" sz="810" dirty="0"/>
          </a:p>
        </p:txBody>
      </p:sp>
      <p:sp>
        <p:nvSpPr>
          <p:cNvPr id="51" name="Shape 37"/>
          <p:cNvSpPr/>
          <p:nvPr/>
        </p:nvSpPr>
        <p:spPr>
          <a:xfrm>
            <a:off x="4714875" y="6649269"/>
            <a:ext cx="3786188" cy="977773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2" name="Text 38"/>
          <p:cNvSpPr/>
          <p:nvPr/>
        </p:nvSpPr>
        <p:spPr>
          <a:xfrm>
            <a:off x="4857750" y="6792144"/>
            <a:ext cx="3571875" cy="188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Portfolio Impact</a:t>
            </a:r>
            <a:endParaRPr lang="en-US" sz="990" dirty="0"/>
          </a:p>
        </p:txBody>
      </p:sp>
      <p:sp>
        <p:nvSpPr>
          <p:cNvPr id="53" name="Text 39"/>
          <p:cNvSpPr/>
          <p:nvPr/>
        </p:nvSpPr>
        <p:spPr>
          <a:xfrm>
            <a:off x="4857750" y="7052193"/>
            <a:ext cx="3571875" cy="4319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FFFFFF">
                    <a:alpha val="9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Demonstrates ability to translate complex regulatory requirements into practical, </a:t>
            </a:r>
            <a:endParaRPr lang="en-US" sz="810" dirty="0"/>
          </a:p>
          <a:p>
            <a:pPr marL="0" indent="0" algn="ctr">
              <a:buNone/>
            </a:pPr>
            <a:r>
              <a:rPr lang="en-US" sz="810" dirty="0">
                <a:solidFill>
                  <a:srgbClr val="FFFFFF">
                    <a:alpha val="9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    implementable solutions for South African FinTech organizations.</a:t>
            </a:r>
            <a:endParaRPr lang="en-US" sz="81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8926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24588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83581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Recommendations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428625" y="771525"/>
            <a:ext cx="8358188" cy="188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FFFFFF">
                    <a:alpha val="9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Strategic roadmap for FinTech GRC implementation in South Africa</a:t>
            </a:r>
            <a:endParaRPr lang="en-US" sz="990" dirty="0"/>
          </a:p>
        </p:txBody>
      </p:sp>
      <p:sp>
        <p:nvSpPr>
          <p:cNvPr id="6" name="Shape 3"/>
          <p:cNvSpPr/>
          <p:nvPr/>
        </p:nvSpPr>
        <p:spPr>
          <a:xfrm>
            <a:off x="428625" y="1531637"/>
            <a:ext cx="2643188" cy="3571875"/>
          </a:xfrm>
          <a:prstGeom prst="rect">
            <a:avLst/>
          </a:prstGeom>
          <a:solidFill>
            <a:srgbClr val="FFFFFF"/>
          </a:solidFill>
          <a:ln w="397">
            <a:solidFill>
              <a:srgbClr val="DC2626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19" y="1785240"/>
            <a:ext cx="214313" cy="285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28688" y="1735959"/>
            <a:ext cx="1386864" cy="2228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7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Immediate Actions</a:t>
            </a:r>
            <a:endParaRPr lang="en-US" sz="1170" dirty="0"/>
          </a:p>
        </p:txBody>
      </p:sp>
      <p:sp>
        <p:nvSpPr>
          <p:cNvPr id="9" name="Text 5"/>
          <p:cNvSpPr/>
          <p:nvPr/>
        </p:nvSpPr>
        <p:spPr>
          <a:xfrm>
            <a:off x="928688" y="1958839"/>
            <a:ext cx="1386864" cy="15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0-6 months</a:t>
            </a:r>
            <a:endParaRPr lang="en-US" sz="81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219" y="2367455"/>
            <a:ext cx="91083" cy="9144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9739" y="2353168"/>
            <a:ext cx="2194917" cy="287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Conduct comprehensive risk assessments using ISO 27005 methodology</a:t>
            </a:r>
            <a:endParaRPr lang="en-US" sz="81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219" y="2805457"/>
            <a:ext cx="67866" cy="9144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6522" y="2791169"/>
            <a:ext cx="2218134" cy="287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 foundational policies for information security and data protection</a:t>
            </a:r>
            <a:endParaRPr lang="en-US" sz="81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219" y="3243458"/>
            <a:ext cx="91083" cy="9144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69739" y="3229170"/>
            <a:ext cx="2194917" cy="287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Establish regular compliance monitoring and reporting processes</a:t>
            </a:r>
            <a:endParaRPr lang="en-US" sz="81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219" y="3681459"/>
            <a:ext cx="114300" cy="91446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92956" y="3667172"/>
            <a:ext cx="2171700" cy="287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Invest in employee training and awareness programs</a:t>
            </a:r>
            <a:endParaRPr lang="en-US" sz="810" dirty="0"/>
          </a:p>
        </p:txBody>
      </p:sp>
      <p:sp>
        <p:nvSpPr>
          <p:cNvPr id="18" name="Shape 10"/>
          <p:cNvSpPr/>
          <p:nvPr/>
        </p:nvSpPr>
        <p:spPr>
          <a:xfrm>
            <a:off x="607219" y="4710605"/>
            <a:ext cx="2286000" cy="214313"/>
          </a:xfrm>
          <a:prstGeom prst="roundRect">
            <a:avLst/>
          </a:prstGeom>
          <a:solidFill>
            <a:srgbClr val="FEE2E2"/>
          </a:solidFill>
          <a:ln/>
        </p:spPr>
      </p:sp>
      <p:sp>
        <p:nvSpPr>
          <p:cNvPr id="19" name="Text 11"/>
          <p:cNvSpPr/>
          <p:nvPr/>
        </p:nvSpPr>
        <p:spPr>
          <a:xfrm>
            <a:off x="607219" y="4710605"/>
            <a:ext cx="2357438" cy="214313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ctr">
            <a:spAutoFit/>
          </a:bodyPr>
          <a:lstStyle/>
          <a:p>
            <a:pPr marL="0" indent="0" algn="ctr">
              <a:buNone/>
            </a:pPr>
            <a:r>
              <a:rPr lang="en-US" sz="675" b="1" dirty="0">
                <a:solidFill>
                  <a:srgbClr val="DC26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 PRIORITY</a:t>
            </a:r>
            <a:endParaRPr lang="en-US" sz="675" dirty="0"/>
          </a:p>
        </p:txBody>
      </p:sp>
      <p:sp>
        <p:nvSpPr>
          <p:cNvPr id="20" name="Shape 12"/>
          <p:cNvSpPr/>
          <p:nvPr/>
        </p:nvSpPr>
        <p:spPr>
          <a:xfrm>
            <a:off x="3250406" y="1531637"/>
            <a:ext cx="2643188" cy="3571875"/>
          </a:xfrm>
          <a:prstGeom prst="rect">
            <a:avLst/>
          </a:prstGeom>
          <a:solidFill>
            <a:srgbClr val="FFFFFF"/>
          </a:solidFill>
          <a:ln w="397">
            <a:solidFill>
              <a:srgbClr val="D97706"/>
            </a:solidFill>
            <a:prstDash val="solid"/>
          </a:ln>
        </p:spPr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29000" y="1785240"/>
            <a:ext cx="357188" cy="28575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3893344" y="1735959"/>
            <a:ext cx="1730797" cy="2228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7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Medium-term Initiatives</a:t>
            </a:r>
            <a:endParaRPr lang="en-US" sz="1170" dirty="0"/>
          </a:p>
        </p:txBody>
      </p:sp>
      <p:sp>
        <p:nvSpPr>
          <p:cNvPr id="23" name="Text 14"/>
          <p:cNvSpPr/>
          <p:nvPr/>
        </p:nvSpPr>
        <p:spPr>
          <a:xfrm>
            <a:off x="3893344" y="1958839"/>
            <a:ext cx="1730797" cy="15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6-18 months</a:t>
            </a:r>
            <a:endParaRPr lang="en-US" sz="81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29000" y="2367455"/>
            <a:ext cx="91083" cy="91446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3591520" y="2353168"/>
            <a:ext cx="2194917" cy="287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Pursue ISO 27001 certification to demonstrate security commitment</a:t>
            </a:r>
            <a:endParaRPr lang="en-US" sz="81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29000" y="2805457"/>
            <a:ext cx="103584" cy="91446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3604022" y="2791169"/>
            <a:ext cx="2182416" cy="287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 automated GRC monitoring tools and dashboards</a:t>
            </a:r>
            <a:endParaRPr lang="en-US" sz="81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29000" y="3243458"/>
            <a:ext cx="91083" cy="91446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3591520" y="3229170"/>
            <a:ext cx="2194917" cy="287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Establish formal incident response and business continuity programs</a:t>
            </a:r>
            <a:endParaRPr lang="en-US" sz="810" dirty="0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29000" y="3681459"/>
            <a:ext cx="114300" cy="91446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3614738" y="3667172"/>
            <a:ext cx="2171700" cy="287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Develop comprehensive vendor risk management processes</a:t>
            </a:r>
            <a:endParaRPr lang="en-US" sz="810" dirty="0"/>
          </a:p>
        </p:txBody>
      </p:sp>
      <p:sp>
        <p:nvSpPr>
          <p:cNvPr id="32" name="Shape 19"/>
          <p:cNvSpPr/>
          <p:nvPr/>
        </p:nvSpPr>
        <p:spPr>
          <a:xfrm>
            <a:off x="3429000" y="4710605"/>
            <a:ext cx="2286000" cy="214313"/>
          </a:xfrm>
          <a:prstGeom prst="roundRect">
            <a:avLst/>
          </a:prstGeom>
          <a:solidFill>
            <a:srgbClr val="FEF3C7"/>
          </a:solidFill>
          <a:ln/>
        </p:spPr>
      </p:sp>
      <p:sp>
        <p:nvSpPr>
          <p:cNvPr id="33" name="Text 20"/>
          <p:cNvSpPr/>
          <p:nvPr/>
        </p:nvSpPr>
        <p:spPr>
          <a:xfrm>
            <a:off x="3429000" y="4710605"/>
            <a:ext cx="2357438" cy="214313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ctr">
            <a:spAutoFit/>
          </a:bodyPr>
          <a:lstStyle/>
          <a:p>
            <a:pPr marL="0" indent="0" algn="ctr">
              <a:buNone/>
            </a:pPr>
            <a:r>
              <a:rPr lang="en-US" sz="675" b="1" dirty="0">
                <a:solidFill>
                  <a:srgbClr val="D9770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MEDIUM PRIORITY</a:t>
            </a:r>
            <a:endParaRPr lang="en-US" sz="675" dirty="0"/>
          </a:p>
        </p:txBody>
      </p:sp>
      <p:sp>
        <p:nvSpPr>
          <p:cNvPr id="34" name="Shape 21"/>
          <p:cNvSpPr/>
          <p:nvPr/>
        </p:nvSpPr>
        <p:spPr>
          <a:xfrm>
            <a:off x="6072188" y="1531637"/>
            <a:ext cx="2643188" cy="3571875"/>
          </a:xfrm>
          <a:prstGeom prst="rect">
            <a:avLst/>
          </a:prstGeom>
          <a:solidFill>
            <a:srgbClr val="FFFFFF"/>
          </a:solidFill>
          <a:ln w="397">
            <a:solidFill>
              <a:srgbClr val="059669"/>
            </a:solidFill>
            <a:prstDash val="solid"/>
          </a:ln>
        </p:spPr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50781" y="1785240"/>
            <a:ext cx="285750" cy="285750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6643688" y="1735959"/>
            <a:ext cx="1937100" cy="2228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7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Long-term Strategic Goals</a:t>
            </a:r>
            <a:endParaRPr lang="en-US" sz="1170" dirty="0"/>
          </a:p>
        </p:txBody>
      </p:sp>
      <p:sp>
        <p:nvSpPr>
          <p:cNvPr id="37" name="Text 23"/>
          <p:cNvSpPr/>
          <p:nvPr/>
        </p:nvSpPr>
        <p:spPr>
          <a:xfrm>
            <a:off x="6643688" y="1958839"/>
            <a:ext cx="1937100" cy="15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18+ months</a:t>
            </a:r>
            <a:endParaRPr lang="en-US" sz="810" dirty="0"/>
          </a:p>
        </p:txBody>
      </p:sp>
      <p:pic>
        <p:nvPicPr>
          <p:cNvPr id="38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50781" y="2367455"/>
            <a:ext cx="91083" cy="91446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6413302" y="2353168"/>
            <a:ext cx="2194917" cy="287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Integrate GRC considerations into business strategy and decision-making</a:t>
            </a:r>
            <a:endParaRPr lang="en-US" sz="810" dirty="0"/>
          </a:p>
        </p:txBody>
      </p:sp>
      <p:pic>
        <p:nvPicPr>
          <p:cNvPr id="40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50781" y="2805457"/>
            <a:ext cx="114300" cy="91446"/>
          </a:xfrm>
          <a:prstGeom prst="rect">
            <a:avLst/>
          </a:prstGeom>
        </p:spPr>
      </p:pic>
      <p:sp>
        <p:nvSpPr>
          <p:cNvPr id="41" name="Text 25"/>
          <p:cNvSpPr/>
          <p:nvPr/>
        </p:nvSpPr>
        <p:spPr>
          <a:xfrm>
            <a:off x="6436519" y="2791169"/>
            <a:ext cx="2171700" cy="287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Establish a culture of risk awareness throughout the organization</a:t>
            </a:r>
            <a:endParaRPr lang="en-US" sz="810" dirty="0"/>
          </a:p>
        </p:txBody>
      </p:sp>
      <p:pic>
        <p:nvPicPr>
          <p:cNvPr id="42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50781" y="3243458"/>
            <a:ext cx="103584" cy="91446"/>
          </a:xfrm>
          <a:prstGeom prst="rect">
            <a:avLst/>
          </a:prstGeom>
        </p:spPr>
      </p:pic>
      <p:sp>
        <p:nvSpPr>
          <p:cNvPr id="43" name="Text 26"/>
          <p:cNvSpPr/>
          <p:nvPr/>
        </p:nvSpPr>
        <p:spPr>
          <a:xfrm>
            <a:off x="6425803" y="3229170"/>
            <a:ext cx="2182416" cy="287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Leverage GRC capabilities as competitive advantages in the market</a:t>
            </a:r>
            <a:endParaRPr lang="en-US" sz="810" dirty="0"/>
          </a:p>
        </p:txBody>
      </p:sp>
      <p:pic>
        <p:nvPicPr>
          <p:cNvPr id="44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50781" y="3681459"/>
            <a:ext cx="91083" cy="91446"/>
          </a:xfrm>
          <a:prstGeom prst="rect">
            <a:avLst/>
          </a:prstGeom>
        </p:spPr>
      </p:pic>
      <p:sp>
        <p:nvSpPr>
          <p:cNvPr id="45" name="Text 27"/>
          <p:cNvSpPr/>
          <p:nvPr/>
        </p:nvSpPr>
        <p:spPr>
          <a:xfrm>
            <a:off x="6413302" y="3667172"/>
            <a:ext cx="2194917" cy="287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Continuously evolve frameworks to address emerging threats and regulations</a:t>
            </a:r>
            <a:endParaRPr lang="en-US" sz="810" dirty="0"/>
          </a:p>
        </p:txBody>
      </p:sp>
      <p:sp>
        <p:nvSpPr>
          <p:cNvPr id="46" name="Shape 28"/>
          <p:cNvSpPr/>
          <p:nvPr/>
        </p:nvSpPr>
        <p:spPr>
          <a:xfrm>
            <a:off x="6250781" y="4710605"/>
            <a:ext cx="2286000" cy="214313"/>
          </a:xfrm>
          <a:prstGeom prst="roundRect">
            <a:avLst/>
          </a:prstGeom>
          <a:solidFill>
            <a:srgbClr val="D1FAE5"/>
          </a:solidFill>
          <a:ln/>
        </p:spPr>
      </p:sp>
      <p:sp>
        <p:nvSpPr>
          <p:cNvPr id="47" name="Text 29"/>
          <p:cNvSpPr/>
          <p:nvPr/>
        </p:nvSpPr>
        <p:spPr>
          <a:xfrm>
            <a:off x="6250781" y="4710605"/>
            <a:ext cx="2357438" cy="214313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ctr">
            <a:spAutoFit/>
          </a:bodyPr>
          <a:lstStyle/>
          <a:p>
            <a:pPr marL="0" indent="0" algn="ctr">
              <a:buNone/>
            </a:pPr>
            <a:r>
              <a:rPr lang="en-US" sz="675" b="1" dirty="0">
                <a:solidFill>
                  <a:srgbClr val="0596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STRATEGIC FOCUS</a:t>
            </a:r>
            <a:endParaRPr lang="en-US" sz="675" dirty="0"/>
          </a:p>
        </p:txBody>
      </p:sp>
      <p:sp>
        <p:nvSpPr>
          <p:cNvPr id="48" name="Shape 30"/>
          <p:cNvSpPr/>
          <p:nvPr/>
        </p:nvSpPr>
        <p:spPr>
          <a:xfrm>
            <a:off x="428625" y="5282105"/>
            <a:ext cx="8286750" cy="882951"/>
          </a:xfrm>
          <a:prstGeom prst="rect">
            <a:avLst/>
          </a:prstGeom>
          <a:solidFill>
            <a:srgbClr val="F8FAFC"/>
          </a:solidFill>
          <a:ln w="198">
            <a:solidFill>
              <a:srgbClr val="CBD5E1"/>
            </a:solidFill>
            <a:prstDash val="dash"/>
          </a:ln>
        </p:spPr>
      </p:sp>
      <p:pic>
        <p:nvPicPr>
          <p:cNvPr id="49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656763" y="5456402"/>
            <a:ext cx="141089" cy="125741"/>
          </a:xfrm>
          <a:prstGeom prst="rect">
            <a:avLst/>
          </a:prstGeom>
        </p:spPr>
      </p:pic>
      <p:sp>
        <p:nvSpPr>
          <p:cNvPr id="50" name="Text 31"/>
          <p:cNvSpPr/>
          <p:nvPr/>
        </p:nvSpPr>
        <p:spPr>
          <a:xfrm>
            <a:off x="3869289" y="5424980"/>
            <a:ext cx="1689385" cy="188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Implementation Roadmap</a:t>
            </a:r>
            <a:endParaRPr lang="en-US" sz="990" dirty="0"/>
          </a:p>
        </p:txBody>
      </p:sp>
      <p:sp>
        <p:nvSpPr>
          <p:cNvPr id="51" name="Text 32"/>
          <p:cNvSpPr/>
          <p:nvPr/>
        </p:nvSpPr>
        <p:spPr>
          <a:xfrm>
            <a:off x="571500" y="5685030"/>
            <a:ext cx="8072438" cy="3085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Organizations that proactively implement comprehensive GRC frameworks will be better positioned to </a:t>
            </a:r>
            <a:endParaRPr lang="en-US" sz="810" dirty="0"/>
          </a:p>
          <a:p>
            <a:pPr marL="0" indent="0" algn="ctr">
              <a:buNone/>
            </a:pPr>
            <a:r>
              <a:rPr lang="en-US" sz="81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navigate regulatory requirements, build customer trust, attract investment, scale operations sustainably, </a:t>
            </a:r>
            <a:endParaRPr lang="en-US" sz="810" dirty="0"/>
          </a:p>
          <a:p>
            <a:pPr marL="0" indent="0" algn="ctr">
              <a:buNone/>
            </a:pPr>
            <a:r>
              <a:rPr lang="en-US" sz="81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and respond effectively to emerging threats in the South African FinTech sector.</a:t>
            </a:r>
            <a:endParaRPr lang="en-US" sz="8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800030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572000" cy="8000302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428625"/>
            <a:ext cx="8358188" cy="37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 &amp; Next Steps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428625" y="1034393"/>
            <a:ext cx="8358188" cy="2080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GRC framework ready for implementation in South African FinTech sector</a:t>
            </a:r>
            <a:endParaRPr lang="en-US" sz="1170" dirty="0"/>
          </a:p>
        </p:txBody>
      </p:sp>
      <p:sp>
        <p:nvSpPr>
          <p:cNvPr id="6" name="Shape 3"/>
          <p:cNvSpPr/>
          <p:nvPr/>
        </p:nvSpPr>
        <p:spPr>
          <a:xfrm>
            <a:off x="428625" y="1585326"/>
            <a:ext cx="4036219" cy="1390157"/>
          </a:xfrm>
          <a:prstGeom prst="rect">
            <a:avLst/>
          </a:prstGeom>
          <a:solidFill>
            <a:srgbClr val="FFFFFF">
              <a:alpha val="15000"/>
            </a:srgbClr>
          </a:solidFill>
          <a:ln w="99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19" y="1822856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7219" y="2213976"/>
            <a:ext cx="3750469" cy="188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Portfolio Completeness</a:t>
            </a:r>
            <a:endParaRPr lang="en-US" sz="990" dirty="0"/>
          </a:p>
        </p:txBody>
      </p:sp>
      <p:sp>
        <p:nvSpPr>
          <p:cNvPr id="9" name="Text 5"/>
          <p:cNvSpPr/>
          <p:nvPr/>
        </p:nvSpPr>
        <p:spPr>
          <a:xfrm>
            <a:off x="607219" y="2474026"/>
            <a:ext cx="3750469" cy="3085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Delivered comprehensive risk register, policy documents, and dashboard prototype 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          demonstrating practical GRC expertise for FinTech organizations.</a:t>
            </a:r>
            <a:endParaRPr lang="en-US" sz="810" dirty="0"/>
          </a:p>
        </p:txBody>
      </p:sp>
      <p:sp>
        <p:nvSpPr>
          <p:cNvPr id="10" name="Shape 6"/>
          <p:cNvSpPr/>
          <p:nvPr/>
        </p:nvSpPr>
        <p:spPr>
          <a:xfrm>
            <a:off x="4679156" y="1585326"/>
            <a:ext cx="4036219" cy="1390157"/>
          </a:xfrm>
          <a:prstGeom prst="rect">
            <a:avLst/>
          </a:prstGeom>
          <a:solidFill>
            <a:srgbClr val="FFFFFF">
              <a:alpha val="15000"/>
            </a:srgbClr>
          </a:solidFill>
          <a:ln w="99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1822856"/>
            <a:ext cx="28575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57750" y="2213976"/>
            <a:ext cx="3750469" cy="188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Regulatory Alignment</a:t>
            </a:r>
            <a:endParaRPr lang="en-US" sz="990" dirty="0"/>
          </a:p>
        </p:txBody>
      </p:sp>
      <p:sp>
        <p:nvSpPr>
          <p:cNvPr id="13" name="Text 8"/>
          <p:cNvSpPr/>
          <p:nvPr/>
        </p:nvSpPr>
        <p:spPr>
          <a:xfrm>
            <a:off x="4857750" y="2474026"/>
            <a:ext cx="3750469" cy="3085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Successfully integrated international standards (ISO 27001/27005) with South African 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          regulations (POPIA) for comprehensive compliance coverage.</a:t>
            </a:r>
            <a:endParaRPr lang="en-US" sz="810" dirty="0"/>
          </a:p>
        </p:txBody>
      </p:sp>
      <p:sp>
        <p:nvSpPr>
          <p:cNvPr id="14" name="Shape 9"/>
          <p:cNvSpPr/>
          <p:nvPr/>
        </p:nvSpPr>
        <p:spPr>
          <a:xfrm>
            <a:off x="428625" y="3175508"/>
            <a:ext cx="4036219" cy="1390157"/>
          </a:xfrm>
          <a:prstGeom prst="rect">
            <a:avLst/>
          </a:prstGeom>
          <a:solidFill>
            <a:srgbClr val="FFFFFF">
              <a:alpha val="15000"/>
            </a:srgbClr>
          </a:solidFill>
          <a:ln w="99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219" y="3413038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07219" y="3804158"/>
            <a:ext cx="3750469" cy="188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Industry Impact</a:t>
            </a:r>
            <a:endParaRPr lang="en-US" sz="990" dirty="0"/>
          </a:p>
        </p:txBody>
      </p:sp>
      <p:sp>
        <p:nvSpPr>
          <p:cNvPr id="17" name="Text 11"/>
          <p:cNvSpPr/>
          <p:nvPr/>
        </p:nvSpPr>
        <p:spPr>
          <a:xfrm>
            <a:off x="607219" y="4064208"/>
            <a:ext cx="3750469" cy="3085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Positioned to help FinTech organizations navigate regulatory requirements, 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          build customer trust, and achieve sustainable growth in South Africa.</a:t>
            </a:r>
            <a:endParaRPr lang="en-US" sz="810" dirty="0"/>
          </a:p>
        </p:txBody>
      </p:sp>
      <p:sp>
        <p:nvSpPr>
          <p:cNvPr id="18" name="Shape 12"/>
          <p:cNvSpPr/>
          <p:nvPr/>
        </p:nvSpPr>
        <p:spPr>
          <a:xfrm>
            <a:off x="4679156" y="3175508"/>
            <a:ext cx="4036219" cy="1390157"/>
          </a:xfrm>
          <a:prstGeom prst="rect">
            <a:avLst/>
          </a:prstGeom>
          <a:solidFill>
            <a:srgbClr val="FFFFFF">
              <a:alpha val="15000"/>
            </a:srgbClr>
          </a:solidFill>
          <a:ln w="99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0" y="3413038"/>
            <a:ext cx="228600" cy="2286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857750" y="3804158"/>
            <a:ext cx="3750469" cy="188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Ready</a:t>
            </a:r>
            <a:endParaRPr lang="en-US" sz="990" dirty="0"/>
          </a:p>
        </p:txBody>
      </p:sp>
      <p:sp>
        <p:nvSpPr>
          <p:cNvPr id="21" name="Text 14"/>
          <p:cNvSpPr/>
          <p:nvPr/>
        </p:nvSpPr>
        <p:spPr>
          <a:xfrm>
            <a:off x="4857750" y="4064208"/>
            <a:ext cx="3750469" cy="3085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Framework designed to evolve with changing regulatory landscape and 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          emerging threats in the financial technology sector.</a:t>
            </a:r>
            <a:endParaRPr lang="en-US" sz="810" dirty="0"/>
          </a:p>
        </p:txBody>
      </p:sp>
      <p:sp>
        <p:nvSpPr>
          <p:cNvPr id="22" name="Shape 15"/>
          <p:cNvSpPr/>
          <p:nvPr/>
        </p:nvSpPr>
        <p:spPr>
          <a:xfrm>
            <a:off x="428625" y="4894278"/>
            <a:ext cx="8286750" cy="1485844"/>
          </a:xfrm>
          <a:prstGeom prst="rect">
            <a:avLst/>
          </a:prstGeom>
          <a:solidFill>
            <a:srgbClr val="FFFFFF">
              <a:alpha val="10000"/>
            </a:srgbClr>
          </a:solidFill>
          <a:ln w="99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938" y="5145732"/>
            <a:ext cx="167878" cy="14859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82253" y="5108591"/>
            <a:ext cx="1626040" cy="2228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Potential Applications</a:t>
            </a:r>
            <a:endParaRPr lang="en-US" sz="117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938" y="5505766"/>
            <a:ext cx="80367" cy="91446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94742" y="5474345"/>
            <a:ext cx="1612478" cy="15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FFFFFF">
                    <a:alpha val="9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FinTech startup implementation</a:t>
            </a:r>
            <a:endParaRPr lang="en-US" sz="81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25578" y="5505766"/>
            <a:ext cx="80367" cy="91446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4777383" y="5474345"/>
            <a:ext cx="1710091" cy="15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FFFFFF">
                    <a:alpha val="9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Regulatory compliance consulting</a:t>
            </a:r>
            <a:endParaRPr lang="en-US" sz="81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2938" y="5767211"/>
            <a:ext cx="80367" cy="91446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794742" y="5735789"/>
            <a:ext cx="1575755" cy="15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FFFFFF">
                    <a:alpha val="9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ISO 27001 certification projects</a:t>
            </a:r>
            <a:endParaRPr lang="en-US" sz="810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25578" y="5767211"/>
            <a:ext cx="80367" cy="91446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4777383" y="5735789"/>
            <a:ext cx="1600033" cy="15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FFFFFF">
                    <a:alpha val="9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POPIA compliance assessments</a:t>
            </a:r>
            <a:endParaRPr lang="en-US" sz="810" dirty="0"/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938" y="6028655"/>
            <a:ext cx="80367" cy="91446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794742" y="5997234"/>
            <a:ext cx="1491314" cy="15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FFFFFF">
                    <a:alpha val="9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GRC framework development</a:t>
            </a:r>
            <a:endParaRPr lang="en-US" sz="810" dirty="0"/>
          </a:p>
        </p:txBody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25578" y="6028655"/>
            <a:ext cx="80367" cy="91446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4777383" y="5997234"/>
            <a:ext cx="1349666" cy="15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FFFFFF">
                    <a:alpha val="9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Risk management training</a:t>
            </a:r>
            <a:endParaRPr lang="en-US" sz="810" dirty="0"/>
          </a:p>
        </p:txBody>
      </p:sp>
      <p:sp>
        <p:nvSpPr>
          <p:cNvPr id="37" name="Text 23"/>
          <p:cNvSpPr/>
          <p:nvPr/>
        </p:nvSpPr>
        <p:spPr>
          <a:xfrm>
            <a:off x="428625" y="6594435"/>
            <a:ext cx="8358188" cy="2057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Portfolio Prepared by</a:t>
            </a:r>
            <a:endParaRPr lang="en-US" sz="1080" dirty="0"/>
          </a:p>
        </p:txBody>
      </p:sp>
      <p:sp>
        <p:nvSpPr>
          <p:cNvPr id="38" name="Text 24"/>
          <p:cNvSpPr/>
          <p:nvPr/>
        </p:nvSpPr>
        <p:spPr>
          <a:xfrm>
            <a:off x="428625" y="6888065"/>
            <a:ext cx="8358188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Ubuntu GRC| June 2025</a:t>
            </a:r>
            <a:endParaRPr lang="en-US" sz="900" dirty="0"/>
          </a:p>
        </p:txBody>
      </p:sp>
      <p:sp>
        <p:nvSpPr>
          <p:cNvPr id="39" name="Text 25"/>
          <p:cNvSpPr/>
          <p:nvPr/>
        </p:nvSpPr>
        <p:spPr>
          <a:xfrm>
            <a:off x="428625" y="7185915"/>
            <a:ext cx="83581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1379</Words>
  <Application>Microsoft Office PowerPoint</Application>
  <PresentationFormat>On-screen Show (16:9)</PresentationFormat>
  <Paragraphs>302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Inter</vt:lpstr>
      <vt:lpstr>Noto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Student</cp:lastModifiedBy>
  <cp:revision>2</cp:revision>
  <dcterms:created xsi:type="dcterms:W3CDTF">2025-06-12T04:30:16Z</dcterms:created>
  <dcterms:modified xsi:type="dcterms:W3CDTF">2025-06-17T15:05:35Z</dcterms:modified>
</cp:coreProperties>
</file>